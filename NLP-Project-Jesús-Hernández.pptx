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Mokoto" charset="1" panose="00000000000000000000"/>
      <p:regular r:id="rId21"/>
    </p:embeddedFont>
    <p:embeddedFont>
      <p:font typeface="Canva Sans Bold" charset="1" panose="020B0803030501040103"/>
      <p:regular r:id="rId22"/>
    </p:embeddedFont>
    <p:embeddedFont>
      <p:font typeface="Open Sans Bold" charset="1" panose="020B080603050402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png" Type="http://schemas.openxmlformats.org/officeDocument/2006/relationships/image"/><Relationship Id="rId12" Target="../media/image28.png" Type="http://schemas.openxmlformats.org/officeDocument/2006/relationships/image"/><Relationship Id="rId13" Target="../media/image29.png" Type="http://schemas.openxmlformats.org/officeDocument/2006/relationships/image"/><Relationship Id="rId14" Target="../media/image30.svg" Type="http://schemas.openxmlformats.org/officeDocument/2006/relationships/image"/><Relationship Id="rId15" Target="../media/image31.png" Type="http://schemas.openxmlformats.org/officeDocument/2006/relationships/image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36.png" Type="http://schemas.openxmlformats.org/officeDocument/2006/relationships/image"/><Relationship Id="rId7" Target="../media/image3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png" Type="http://schemas.openxmlformats.org/officeDocument/2006/relationships/image"/><Relationship Id="rId11" Target="../embeddings/oleObject1.bin" Type="http://schemas.openxmlformats.org/officeDocument/2006/relationships/oleObject"/><Relationship Id="rId2" Target="../media/image38.png" Type="http://schemas.openxmlformats.org/officeDocument/2006/relationships/image"/><Relationship Id="rId3" Target="../media/image39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40.png" Type="http://schemas.openxmlformats.org/officeDocument/2006/relationships/image"/><Relationship Id="rId7" Target="../media/image41.svg" Type="http://schemas.openxmlformats.org/officeDocument/2006/relationships/image"/><Relationship Id="rId8" Target="../media/image42.png" Type="http://schemas.openxmlformats.org/officeDocument/2006/relationships/image"/><Relationship Id="rId9" Target="../media/image4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Relationship Id="rId3" Target="../media/image46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47.png" Type="http://schemas.openxmlformats.org/officeDocument/2006/relationships/image"/><Relationship Id="rId7" Target="../media/image48.png" Type="http://schemas.openxmlformats.org/officeDocument/2006/relationships/image"/><Relationship Id="rId8" Target="../media/image4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Relationship Id="rId3" Target="../media/image46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47.png" Type="http://schemas.openxmlformats.org/officeDocument/2006/relationships/image"/><Relationship Id="rId7" Target="../media/image5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Relationship Id="rId3" Target="../media/image46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51.png" Type="http://schemas.openxmlformats.org/officeDocument/2006/relationships/image"/><Relationship Id="rId7" Target="../media/image5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Relationship Id="rId3" Target="../media/image54.svg" Type="http://schemas.openxmlformats.org/officeDocument/2006/relationships/image"/><Relationship Id="rId4" Target="../media/image55.png" Type="http://schemas.openxmlformats.org/officeDocument/2006/relationships/image"/><Relationship Id="rId5" Target="../media/image56.svg" Type="http://schemas.openxmlformats.org/officeDocument/2006/relationships/image"/><Relationship Id="rId6" Target="../media/image57.png" Type="http://schemas.openxmlformats.org/officeDocument/2006/relationships/image"/><Relationship Id="rId7" Target="../media/image5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Relationship Id="rId3" Target="../media/image54.svg" Type="http://schemas.openxmlformats.org/officeDocument/2006/relationships/image"/><Relationship Id="rId4" Target="../media/image55.png" Type="http://schemas.openxmlformats.org/officeDocument/2006/relationships/image"/><Relationship Id="rId5" Target="../media/image56.svg" Type="http://schemas.openxmlformats.org/officeDocument/2006/relationships/image"/><Relationship Id="rId6" Target="../media/image59.png" Type="http://schemas.openxmlformats.org/officeDocument/2006/relationships/image"/><Relationship Id="rId7" Target="../media/image6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1.png" Type="http://schemas.openxmlformats.org/officeDocument/2006/relationships/image"/><Relationship Id="rId3" Target="../media/image62.svg" Type="http://schemas.openxmlformats.org/officeDocument/2006/relationships/image"/><Relationship Id="rId4" Target="../media/image63.png" Type="http://schemas.openxmlformats.org/officeDocument/2006/relationships/image"/><Relationship Id="rId5" Target="../media/image6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5.png" Type="http://schemas.openxmlformats.org/officeDocument/2006/relationships/image"/><Relationship Id="rId3" Target="../media/image6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E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329727"/>
            <a:ext cx="9606577" cy="1724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01"/>
              </a:lnSpc>
            </a:pPr>
            <a:r>
              <a:rPr lang="en-US" sz="5313" spc="-658">
                <a:solidFill>
                  <a:srgbClr val="05061C"/>
                </a:solidFill>
                <a:latin typeface="Mokoto"/>
                <a:ea typeface="Mokoto"/>
                <a:cs typeface="Mokoto"/>
                <a:sym typeface="Mokoto"/>
              </a:rPr>
              <a:t>NATURAL LANGUAGE PROCESSING PROJECT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645598" y="6202584"/>
            <a:ext cx="9453842" cy="3919047"/>
          </a:xfrm>
          <a:custGeom>
            <a:avLst/>
            <a:gdLst/>
            <a:ahLst/>
            <a:cxnLst/>
            <a:rect r="r" b="b" t="t" l="l"/>
            <a:pathLst>
              <a:path h="3919047" w="9453842">
                <a:moveTo>
                  <a:pt x="0" y="0"/>
                </a:moveTo>
                <a:lnTo>
                  <a:pt x="9453843" y="0"/>
                </a:lnTo>
                <a:lnTo>
                  <a:pt x="9453843" y="3919048"/>
                </a:lnTo>
                <a:lnTo>
                  <a:pt x="0" y="39190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6980197" y="1449887"/>
            <a:ext cx="956758" cy="5979735"/>
          </a:xfrm>
          <a:custGeom>
            <a:avLst/>
            <a:gdLst/>
            <a:ahLst/>
            <a:cxnLst/>
            <a:rect r="r" b="b" t="t" l="l"/>
            <a:pathLst>
              <a:path h="5979735" w="956758">
                <a:moveTo>
                  <a:pt x="0" y="0"/>
                </a:moveTo>
                <a:lnTo>
                  <a:pt x="956758" y="0"/>
                </a:lnTo>
                <a:lnTo>
                  <a:pt x="956758" y="5979735"/>
                </a:lnTo>
                <a:lnTo>
                  <a:pt x="0" y="59797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7188933" y="3015910"/>
            <a:ext cx="858907" cy="5979735"/>
          </a:xfrm>
          <a:custGeom>
            <a:avLst/>
            <a:gdLst/>
            <a:ahLst/>
            <a:cxnLst/>
            <a:rect r="r" b="b" t="t" l="l"/>
            <a:pathLst>
              <a:path h="5979735" w="858907">
                <a:moveTo>
                  <a:pt x="0" y="0"/>
                </a:moveTo>
                <a:lnTo>
                  <a:pt x="858907" y="0"/>
                </a:lnTo>
                <a:lnTo>
                  <a:pt x="858907" y="5979736"/>
                </a:lnTo>
                <a:lnTo>
                  <a:pt x="0" y="59797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770067" y="6491393"/>
            <a:ext cx="3396096" cy="3669467"/>
          </a:xfrm>
          <a:prstGeom prst="rect">
            <a:avLst/>
          </a:prstGeom>
        </p:spPr>
      </p:pic>
      <p:sp>
        <p:nvSpPr>
          <p:cNvPr name="Freeform 7" id="7"/>
          <p:cNvSpPr/>
          <p:nvPr/>
        </p:nvSpPr>
        <p:spPr>
          <a:xfrm flipH="false" flipV="false" rot="0">
            <a:off x="13648482" y="130256"/>
            <a:ext cx="3466708" cy="3466708"/>
          </a:xfrm>
          <a:custGeom>
            <a:avLst/>
            <a:gdLst/>
            <a:ahLst/>
            <a:cxnLst/>
            <a:rect r="r" b="b" t="t" l="l"/>
            <a:pathLst>
              <a:path h="3466708" w="3466708">
                <a:moveTo>
                  <a:pt x="0" y="0"/>
                </a:moveTo>
                <a:lnTo>
                  <a:pt x="3466708" y="0"/>
                </a:lnTo>
                <a:lnTo>
                  <a:pt x="3466708" y="3466708"/>
                </a:lnTo>
                <a:lnTo>
                  <a:pt x="0" y="346670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08857" y="1484854"/>
            <a:ext cx="10569348" cy="47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3"/>
              </a:lnSpc>
            </a:pPr>
            <a:r>
              <a:rPr lang="en-US" b="true" sz="2942">
                <a:solidFill>
                  <a:srgbClr val="FBFEF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Presented by Jesús G. Hernández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467634"/>
            <a:ext cx="8846774" cy="675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2"/>
              </a:lnSpc>
              <a:spcBef>
                <a:spcPct val="0"/>
              </a:spcBef>
            </a:pPr>
            <a:r>
              <a:rPr lang="en-US" b="true" sz="394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News Classification is it real or fake?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539694" y="1831039"/>
            <a:ext cx="738997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9539694" y="2767448"/>
            <a:ext cx="738997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9539694" y="3703858"/>
            <a:ext cx="738997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9539694" y="4640267"/>
            <a:ext cx="738997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9539694" y="5576676"/>
            <a:ext cx="738997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9539694" y="894130"/>
            <a:ext cx="738997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9539694" y="1038431"/>
            <a:ext cx="7719606" cy="547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4"/>
              </a:lnSpc>
              <a:spcBef>
                <a:spcPct val="0"/>
              </a:spcBef>
            </a:pPr>
            <a:r>
              <a:rPr lang="en-US" b="true" sz="3167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01. Introduction &amp; Objective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39694" y="1969087"/>
            <a:ext cx="7719606" cy="547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4"/>
              </a:lnSpc>
              <a:spcBef>
                <a:spcPct val="0"/>
              </a:spcBef>
            </a:pPr>
            <a:r>
              <a:rPr lang="en-US" b="true" sz="3167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02. Dataset Overview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39694" y="2916793"/>
            <a:ext cx="7719606" cy="547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4"/>
              </a:lnSpc>
              <a:spcBef>
                <a:spcPct val="0"/>
              </a:spcBef>
            </a:pPr>
            <a:r>
              <a:rPr lang="en-US" b="true" sz="3167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03. Data Preprocessing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39694" y="3850966"/>
            <a:ext cx="7719606" cy="547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4"/>
              </a:lnSpc>
              <a:spcBef>
                <a:spcPct val="0"/>
              </a:spcBef>
            </a:pPr>
            <a:r>
              <a:rPr lang="en-US" b="true" sz="3167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04. Text Vectorization (TF-IDF)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39694" y="4787376"/>
            <a:ext cx="7719606" cy="547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4"/>
              </a:lnSpc>
              <a:spcBef>
                <a:spcPct val="0"/>
              </a:spcBef>
            </a:pPr>
            <a:r>
              <a:rPr lang="en-US" b="true" sz="3167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05. Models Tested</a:t>
            </a:r>
          </a:p>
        </p:txBody>
      </p:sp>
      <p:sp>
        <p:nvSpPr>
          <p:cNvPr name="AutoShape 13" id="13"/>
          <p:cNvSpPr/>
          <p:nvPr/>
        </p:nvSpPr>
        <p:spPr>
          <a:xfrm>
            <a:off x="9539694" y="6559822"/>
            <a:ext cx="738997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9539694" y="7496231"/>
            <a:ext cx="738997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9539694" y="8432640"/>
            <a:ext cx="738997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9539694" y="5782283"/>
            <a:ext cx="7719606" cy="489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4"/>
              </a:lnSpc>
              <a:spcBef>
                <a:spcPct val="0"/>
              </a:spcBef>
            </a:pPr>
            <a:r>
              <a:rPr lang="en-US" b="true" sz="2867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06. Model Evaluation &amp; Confusion Matrices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39694" y="6706931"/>
            <a:ext cx="7719606" cy="547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4"/>
              </a:lnSpc>
              <a:spcBef>
                <a:spcPct val="0"/>
              </a:spcBef>
            </a:pPr>
            <a:r>
              <a:rPr lang="en-US" b="true" sz="3167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07. Hyperparameter Tuning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39694" y="7643340"/>
            <a:ext cx="7719606" cy="547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4"/>
              </a:lnSpc>
              <a:spcBef>
                <a:spcPct val="0"/>
              </a:spcBef>
            </a:pPr>
            <a:r>
              <a:rPr lang="en-US" b="true" sz="3167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08. Predictions on Test Dataset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81867" y="730751"/>
            <a:ext cx="5081699" cy="1306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011"/>
              </a:lnSpc>
              <a:spcBef>
                <a:spcPct val="0"/>
              </a:spcBef>
            </a:pPr>
            <a:r>
              <a:rPr lang="en-US" sz="9100" spc="-764">
                <a:solidFill>
                  <a:srgbClr val="05061C"/>
                </a:solidFill>
                <a:latin typeface="Mokoto"/>
                <a:ea typeface="Mokoto"/>
                <a:cs typeface="Mokoto"/>
                <a:sym typeface="Mokoto"/>
              </a:rPr>
              <a:t>Index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281867" y="4183972"/>
            <a:ext cx="3457161" cy="4080340"/>
          </a:xfrm>
          <a:custGeom>
            <a:avLst/>
            <a:gdLst/>
            <a:ahLst/>
            <a:cxnLst/>
            <a:rect r="r" b="b" t="t" l="l"/>
            <a:pathLst>
              <a:path h="4080340" w="3457161">
                <a:moveTo>
                  <a:pt x="0" y="0"/>
                </a:moveTo>
                <a:lnTo>
                  <a:pt x="3457161" y="0"/>
                </a:lnTo>
                <a:lnTo>
                  <a:pt x="3457161" y="4080340"/>
                </a:lnTo>
                <a:lnTo>
                  <a:pt x="0" y="4080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2697006" y="5334165"/>
            <a:ext cx="5600124" cy="7404010"/>
          </a:xfrm>
          <a:custGeom>
            <a:avLst/>
            <a:gdLst/>
            <a:ahLst/>
            <a:cxnLst/>
            <a:rect r="r" b="b" t="t" l="l"/>
            <a:pathLst>
              <a:path h="7404010" w="5600124">
                <a:moveTo>
                  <a:pt x="0" y="0"/>
                </a:moveTo>
                <a:lnTo>
                  <a:pt x="5600124" y="0"/>
                </a:lnTo>
                <a:lnTo>
                  <a:pt x="5600124" y="7404010"/>
                </a:lnTo>
                <a:lnTo>
                  <a:pt x="0" y="74040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539694" y="8585040"/>
            <a:ext cx="7719606" cy="547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4"/>
              </a:lnSpc>
              <a:spcBef>
                <a:spcPct val="0"/>
              </a:spcBef>
            </a:pPr>
            <a:r>
              <a:rPr lang="en-US" b="true" sz="3167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09. Conclusions</a:t>
            </a:r>
          </a:p>
        </p:txBody>
      </p:sp>
      <p:sp>
        <p:nvSpPr>
          <p:cNvPr name="AutoShape 23" id="23"/>
          <p:cNvSpPr/>
          <p:nvPr/>
        </p:nvSpPr>
        <p:spPr>
          <a:xfrm>
            <a:off x="9539694" y="9418763"/>
            <a:ext cx="738997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6440" y="1689003"/>
            <a:ext cx="20835606" cy="2604951"/>
            <a:chOff x="0" y="0"/>
            <a:chExt cx="5487567" cy="6860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7567" cy="686078"/>
            </a:xfrm>
            <a:custGeom>
              <a:avLst/>
              <a:gdLst/>
              <a:ahLst/>
              <a:cxnLst/>
              <a:rect r="r" b="b" t="t" l="l"/>
              <a:pathLst>
                <a:path h="686078" w="5487567">
                  <a:moveTo>
                    <a:pt x="0" y="0"/>
                  </a:moveTo>
                  <a:lnTo>
                    <a:pt x="5487567" y="0"/>
                  </a:lnTo>
                  <a:lnTo>
                    <a:pt x="5487567" y="686078"/>
                  </a:lnTo>
                  <a:lnTo>
                    <a:pt x="0" y="686078"/>
                  </a:lnTo>
                  <a:close/>
                </a:path>
              </a:pathLst>
            </a:custGeom>
            <a:solidFill>
              <a:srgbClr val="4E767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487567" cy="7337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319505" y="4570471"/>
            <a:ext cx="3357828" cy="5231743"/>
          </a:xfrm>
          <a:custGeom>
            <a:avLst/>
            <a:gdLst/>
            <a:ahLst/>
            <a:cxnLst/>
            <a:rect r="r" b="b" t="t" l="l"/>
            <a:pathLst>
              <a:path h="5231743" w="3357828">
                <a:moveTo>
                  <a:pt x="0" y="0"/>
                </a:moveTo>
                <a:lnTo>
                  <a:pt x="3357828" y="0"/>
                </a:lnTo>
                <a:lnTo>
                  <a:pt x="3357828" y="5231743"/>
                </a:lnTo>
                <a:lnTo>
                  <a:pt x="0" y="52317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-3508757" y="-1064553"/>
            <a:ext cx="9751946" cy="2563471"/>
          </a:xfrm>
          <a:custGeom>
            <a:avLst/>
            <a:gdLst/>
            <a:ahLst/>
            <a:cxnLst/>
            <a:rect r="r" b="b" t="t" l="l"/>
            <a:pathLst>
              <a:path h="2563471" w="9751946">
                <a:moveTo>
                  <a:pt x="9751946" y="0"/>
                </a:moveTo>
                <a:lnTo>
                  <a:pt x="0" y="0"/>
                </a:lnTo>
                <a:lnTo>
                  <a:pt x="0" y="2563471"/>
                </a:lnTo>
                <a:lnTo>
                  <a:pt x="9751946" y="2563471"/>
                </a:lnTo>
                <a:lnTo>
                  <a:pt x="9751946" y="0"/>
                </a:lnTo>
                <a:close/>
              </a:path>
            </a:pathLst>
          </a:custGeom>
          <a:blipFill>
            <a:blip r:embed="rId4">
              <a:alphaModFix amt="3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4994293" y="8520479"/>
            <a:ext cx="9751946" cy="2563471"/>
          </a:xfrm>
          <a:custGeom>
            <a:avLst/>
            <a:gdLst/>
            <a:ahLst/>
            <a:cxnLst/>
            <a:rect r="r" b="b" t="t" l="l"/>
            <a:pathLst>
              <a:path h="2563471" w="9751946">
                <a:moveTo>
                  <a:pt x="9751945" y="0"/>
                </a:moveTo>
                <a:lnTo>
                  <a:pt x="0" y="0"/>
                </a:lnTo>
                <a:lnTo>
                  <a:pt x="0" y="2563471"/>
                </a:lnTo>
                <a:lnTo>
                  <a:pt x="9751945" y="2563471"/>
                </a:lnTo>
                <a:lnTo>
                  <a:pt x="9751945" y="0"/>
                </a:lnTo>
                <a:close/>
              </a:path>
            </a:pathLst>
          </a:custGeom>
          <a:blipFill>
            <a:blip r:embed="rId4">
              <a:alphaModFix amt="3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79945" y="4570471"/>
            <a:ext cx="4155766" cy="5106932"/>
          </a:xfrm>
          <a:custGeom>
            <a:avLst/>
            <a:gdLst/>
            <a:ahLst/>
            <a:cxnLst/>
            <a:rect r="r" b="b" t="t" l="l"/>
            <a:pathLst>
              <a:path h="5106932" w="4155766">
                <a:moveTo>
                  <a:pt x="0" y="0"/>
                </a:moveTo>
                <a:lnTo>
                  <a:pt x="4155766" y="0"/>
                </a:lnTo>
                <a:lnTo>
                  <a:pt x="4155766" y="5106932"/>
                </a:lnTo>
                <a:lnTo>
                  <a:pt x="0" y="51069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67216" y="1935230"/>
            <a:ext cx="15400337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 spc="-419">
                <a:solidFill>
                  <a:srgbClr val="F0F6F5"/>
                </a:solidFill>
                <a:latin typeface="Mokoto"/>
                <a:ea typeface="Mokoto"/>
                <a:cs typeface="Mokoto"/>
                <a:sym typeface="Mokoto"/>
              </a:rPr>
              <a:t>Introduction &amp; Objective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4640" y="4931992"/>
            <a:ext cx="9026723" cy="580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3"/>
              </a:lnSpc>
            </a:pPr>
            <a:r>
              <a:rPr lang="en-US" sz="338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Which should be the final result?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8565" y="5798595"/>
            <a:ext cx="9750526" cy="3377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9830" indent="-344915" lvl="1">
              <a:lnSpc>
                <a:spcPts val="4473"/>
              </a:lnSpc>
              <a:buFont typeface="Arial"/>
              <a:buChar char="•"/>
            </a:pPr>
            <a:r>
              <a:rPr lang="en-US" b="true" sz="319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Build a classifier to distinguish real vs fake news</a:t>
            </a:r>
          </a:p>
          <a:p>
            <a:pPr algn="l" marL="689830" indent="-344915" lvl="1">
              <a:lnSpc>
                <a:spcPts val="4473"/>
              </a:lnSpc>
              <a:buFont typeface="Arial"/>
              <a:buChar char="•"/>
            </a:pPr>
            <a:r>
              <a:rPr lang="en-US" b="true" sz="319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Predict labels for a new, unseen dataset (testing_data.csv)</a:t>
            </a:r>
          </a:p>
          <a:p>
            <a:pPr algn="l" marL="689830" indent="-344915" lvl="1">
              <a:lnSpc>
                <a:spcPts val="4473"/>
              </a:lnSpc>
              <a:buFont typeface="Arial"/>
              <a:buChar char="•"/>
            </a:pPr>
            <a:r>
              <a:rPr lang="en-US" b="true" sz="319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Goal: accurate predictions for unknown headlines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65774" y="379168"/>
            <a:ext cx="20835606" cy="1926330"/>
            <a:chOff x="0" y="0"/>
            <a:chExt cx="5487567" cy="5073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7567" cy="507346"/>
            </a:xfrm>
            <a:custGeom>
              <a:avLst/>
              <a:gdLst/>
              <a:ahLst/>
              <a:cxnLst/>
              <a:rect r="r" b="b" t="t" l="l"/>
              <a:pathLst>
                <a:path h="507346" w="5487567">
                  <a:moveTo>
                    <a:pt x="0" y="0"/>
                  </a:moveTo>
                  <a:lnTo>
                    <a:pt x="5487567" y="0"/>
                  </a:lnTo>
                  <a:lnTo>
                    <a:pt x="5487567" y="507346"/>
                  </a:lnTo>
                  <a:lnTo>
                    <a:pt x="0" y="507346"/>
                  </a:lnTo>
                  <a:close/>
                </a:path>
              </a:pathLst>
            </a:custGeom>
            <a:solidFill>
              <a:srgbClr val="4E767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487567" cy="554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00738" y="4159152"/>
            <a:ext cx="5946304" cy="511834"/>
          </a:xfrm>
          <a:custGeom>
            <a:avLst/>
            <a:gdLst/>
            <a:ahLst/>
            <a:cxnLst/>
            <a:rect r="r" b="b" t="t" l="l"/>
            <a:pathLst>
              <a:path h="511834" w="5946304">
                <a:moveTo>
                  <a:pt x="0" y="0"/>
                </a:moveTo>
                <a:lnTo>
                  <a:pt x="5946304" y="0"/>
                </a:lnTo>
                <a:lnTo>
                  <a:pt x="5946304" y="511834"/>
                </a:lnTo>
                <a:lnTo>
                  <a:pt x="0" y="5118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53" t="-51519" r="-4626" b="-34059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122734" y="4151058"/>
            <a:ext cx="6680357" cy="2269582"/>
          </a:xfrm>
          <a:custGeom>
            <a:avLst/>
            <a:gdLst/>
            <a:ahLst/>
            <a:cxnLst/>
            <a:rect r="r" b="b" t="t" l="l"/>
            <a:pathLst>
              <a:path h="2269582" w="6680357">
                <a:moveTo>
                  <a:pt x="0" y="0"/>
                </a:moveTo>
                <a:lnTo>
                  <a:pt x="6680357" y="0"/>
                </a:lnTo>
                <a:lnTo>
                  <a:pt x="6680357" y="2269582"/>
                </a:lnTo>
                <a:lnTo>
                  <a:pt x="0" y="2269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550" t="0" r="0" b="-92683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059427" y="6668290"/>
            <a:ext cx="6952544" cy="1940296"/>
          </a:xfrm>
          <a:custGeom>
            <a:avLst/>
            <a:gdLst/>
            <a:ahLst/>
            <a:cxnLst/>
            <a:rect r="r" b="b" t="t" l="l"/>
            <a:pathLst>
              <a:path h="1940296" w="6952544">
                <a:moveTo>
                  <a:pt x="0" y="0"/>
                </a:moveTo>
                <a:lnTo>
                  <a:pt x="6952544" y="0"/>
                </a:lnTo>
                <a:lnTo>
                  <a:pt x="6952544" y="1940296"/>
                </a:lnTo>
                <a:lnTo>
                  <a:pt x="0" y="19402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82773" r="-34282" b="-12845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00738" y="6860804"/>
            <a:ext cx="6900179" cy="557498"/>
          </a:xfrm>
          <a:custGeom>
            <a:avLst/>
            <a:gdLst/>
            <a:ahLst/>
            <a:cxnLst/>
            <a:rect r="r" b="b" t="t" l="l"/>
            <a:pathLst>
              <a:path h="557498" w="6900179">
                <a:moveTo>
                  <a:pt x="0" y="0"/>
                </a:moveTo>
                <a:lnTo>
                  <a:pt x="6900179" y="0"/>
                </a:lnTo>
                <a:lnTo>
                  <a:pt x="6900179" y="557498"/>
                </a:lnTo>
                <a:lnTo>
                  <a:pt x="0" y="5574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00738" y="7646902"/>
            <a:ext cx="6900179" cy="863351"/>
          </a:xfrm>
          <a:custGeom>
            <a:avLst/>
            <a:gdLst/>
            <a:ahLst/>
            <a:cxnLst/>
            <a:rect r="r" b="b" t="t" l="l"/>
            <a:pathLst>
              <a:path h="863351" w="6900179">
                <a:moveTo>
                  <a:pt x="0" y="0"/>
                </a:moveTo>
                <a:lnTo>
                  <a:pt x="6900179" y="0"/>
                </a:lnTo>
                <a:lnTo>
                  <a:pt x="6900179" y="863351"/>
                </a:lnTo>
                <a:lnTo>
                  <a:pt x="0" y="8633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640" t="-12487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00738" y="4823386"/>
            <a:ext cx="4502888" cy="583108"/>
          </a:xfrm>
          <a:custGeom>
            <a:avLst/>
            <a:gdLst/>
            <a:ahLst/>
            <a:cxnLst/>
            <a:rect r="r" b="b" t="t" l="l"/>
            <a:pathLst>
              <a:path h="583108" w="4502888">
                <a:moveTo>
                  <a:pt x="0" y="0"/>
                </a:moveTo>
                <a:lnTo>
                  <a:pt x="4502888" y="0"/>
                </a:lnTo>
                <a:lnTo>
                  <a:pt x="4502888" y="583108"/>
                </a:lnTo>
                <a:lnTo>
                  <a:pt x="0" y="5831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990953" y="8730785"/>
            <a:ext cx="7337771" cy="1380039"/>
          </a:xfrm>
          <a:custGeom>
            <a:avLst/>
            <a:gdLst/>
            <a:ahLst/>
            <a:cxnLst/>
            <a:rect r="r" b="b" t="t" l="l"/>
            <a:pathLst>
              <a:path h="1380039" w="7337771">
                <a:moveTo>
                  <a:pt x="0" y="0"/>
                </a:moveTo>
                <a:lnTo>
                  <a:pt x="7337771" y="0"/>
                </a:lnTo>
                <a:lnTo>
                  <a:pt x="7337771" y="1380039"/>
                </a:lnTo>
                <a:lnTo>
                  <a:pt x="0" y="13800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938181"/>
            <a:ext cx="16300024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261"/>
              </a:lnSpc>
              <a:spcBef>
                <a:spcPct val="0"/>
              </a:spcBef>
            </a:pPr>
            <a:r>
              <a:rPr lang="en-US" sz="7718" spc="-393">
                <a:solidFill>
                  <a:srgbClr val="F0F6F5"/>
                </a:solidFill>
                <a:latin typeface="Mokoto"/>
                <a:ea typeface="Mokoto"/>
                <a:cs typeface="Mokoto"/>
                <a:sym typeface="Mokoto"/>
              </a:rPr>
              <a:t>Dataset Overview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7727" y="2966520"/>
            <a:ext cx="5819315" cy="503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83"/>
              </a:lnSpc>
              <a:spcBef>
                <a:spcPct val="0"/>
              </a:spcBef>
            </a:pPr>
            <a:r>
              <a:rPr lang="en-US" b="true" sz="3140" spc="16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COLUMNS: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0738" y="3750867"/>
            <a:ext cx="5062246" cy="254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71"/>
              </a:lnSpc>
            </a:pPr>
            <a:r>
              <a:rPr lang="en-US" b="true" sz="1723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Label (0 = fake, 1 = real) with headline (text)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186416" y="2637788"/>
            <a:ext cx="7505492" cy="503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83"/>
              </a:lnSpc>
              <a:spcBef>
                <a:spcPct val="0"/>
              </a:spcBef>
            </a:pPr>
            <a:r>
              <a:rPr lang="en-US" b="true" sz="3140" spc="16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NULL AND DUPLICATED VALUES: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059427" y="3386190"/>
            <a:ext cx="3984007" cy="790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2040" indent="-186020" lvl="1">
              <a:lnSpc>
                <a:spcPts val="2171"/>
              </a:lnSpc>
              <a:buFont typeface="Arial"/>
              <a:buChar char="•"/>
            </a:pPr>
            <a:r>
              <a:rPr lang="en-US" b="true" sz="1723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Null values: None</a:t>
            </a:r>
          </a:p>
          <a:p>
            <a:pPr algn="l" marL="372040" indent="-186020" lvl="1">
              <a:lnSpc>
                <a:spcPts val="2171"/>
              </a:lnSpc>
              <a:buFont typeface="Arial"/>
              <a:buChar char="•"/>
            </a:pPr>
            <a:r>
              <a:rPr lang="en-US" b="true" sz="1723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Duplicates: 1,946 rows removed</a:t>
            </a:r>
          </a:p>
          <a:p>
            <a:pPr algn="l" marL="0" indent="0" lvl="0">
              <a:lnSpc>
                <a:spcPts val="2171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927727" y="5608899"/>
            <a:ext cx="7505492" cy="503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83"/>
              </a:lnSpc>
              <a:spcBef>
                <a:spcPct val="0"/>
              </a:spcBef>
            </a:pPr>
            <a:r>
              <a:rPr lang="en-US" b="true" sz="3140" spc="16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HEADLINE CHARACTERISTICS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00738" y="6359585"/>
            <a:ext cx="6322866" cy="253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1"/>
              </a:lnSpc>
            </a:pPr>
            <a:r>
              <a:rPr lang="en-US" b="true" sz="1723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Headlines contain: punctuation, capitalization, stop words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00738" y="9243678"/>
            <a:ext cx="9059107" cy="335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07"/>
              </a:lnSpc>
              <a:spcBef>
                <a:spcPct val="0"/>
              </a:spcBef>
            </a:pPr>
            <a:r>
              <a:rPr lang="en-US" b="true" sz="2148" strike="noStrike" u="none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Note: Data read with sep="\t" to separate the two columns correctly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E76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800000">
            <a:off x="12461598" y="-60753"/>
            <a:ext cx="8288984" cy="2178906"/>
          </a:xfrm>
          <a:custGeom>
            <a:avLst/>
            <a:gdLst/>
            <a:ahLst/>
            <a:cxnLst/>
            <a:rect r="r" b="b" t="t" l="l"/>
            <a:pathLst>
              <a:path h="2178906" w="8288984">
                <a:moveTo>
                  <a:pt x="8288984" y="0"/>
                </a:moveTo>
                <a:lnTo>
                  <a:pt x="0" y="0"/>
                </a:lnTo>
                <a:lnTo>
                  <a:pt x="0" y="2178906"/>
                </a:lnTo>
                <a:lnTo>
                  <a:pt x="8288984" y="2178906"/>
                </a:lnTo>
                <a:lnTo>
                  <a:pt x="8288984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777208"/>
            <a:ext cx="16374040" cy="8732583"/>
            <a:chOff x="0" y="0"/>
            <a:chExt cx="4312504" cy="22999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12504" cy="2299940"/>
            </a:xfrm>
            <a:custGeom>
              <a:avLst/>
              <a:gdLst/>
              <a:ahLst/>
              <a:cxnLst/>
              <a:rect r="r" b="b" t="t" l="l"/>
              <a:pathLst>
                <a:path h="2299940" w="4312504">
                  <a:moveTo>
                    <a:pt x="0" y="0"/>
                  </a:moveTo>
                  <a:lnTo>
                    <a:pt x="4312504" y="0"/>
                  </a:lnTo>
                  <a:lnTo>
                    <a:pt x="4312504" y="2299940"/>
                  </a:lnTo>
                  <a:lnTo>
                    <a:pt x="0" y="2299940"/>
                  </a:lnTo>
                  <a:close/>
                </a:path>
              </a:pathLst>
            </a:custGeom>
            <a:solidFill>
              <a:srgbClr val="F0F6F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312504" cy="2347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3416111" y="-714114"/>
            <a:ext cx="6832222" cy="2832266"/>
          </a:xfrm>
          <a:custGeom>
            <a:avLst/>
            <a:gdLst/>
            <a:ahLst/>
            <a:cxnLst/>
            <a:rect r="r" b="b" t="t" l="l"/>
            <a:pathLst>
              <a:path h="2832266" w="6832222">
                <a:moveTo>
                  <a:pt x="0" y="0"/>
                </a:moveTo>
                <a:lnTo>
                  <a:pt x="6832222" y="0"/>
                </a:lnTo>
                <a:lnTo>
                  <a:pt x="6832222" y="2832267"/>
                </a:lnTo>
                <a:lnTo>
                  <a:pt x="0" y="28322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700000">
            <a:off x="17597576" y="7923673"/>
            <a:ext cx="653210" cy="4082561"/>
          </a:xfrm>
          <a:custGeom>
            <a:avLst/>
            <a:gdLst/>
            <a:ahLst/>
            <a:cxnLst/>
            <a:rect r="r" b="b" t="t" l="l"/>
            <a:pathLst>
              <a:path h="4082561" w="653210">
                <a:moveTo>
                  <a:pt x="0" y="0"/>
                </a:moveTo>
                <a:lnTo>
                  <a:pt x="653210" y="0"/>
                </a:lnTo>
                <a:lnTo>
                  <a:pt x="653210" y="4082560"/>
                </a:lnTo>
                <a:lnTo>
                  <a:pt x="0" y="40825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589324">
            <a:off x="-13398" y="8114103"/>
            <a:ext cx="582643" cy="4056377"/>
          </a:xfrm>
          <a:custGeom>
            <a:avLst/>
            <a:gdLst/>
            <a:ahLst/>
            <a:cxnLst/>
            <a:rect r="r" b="b" t="t" l="l"/>
            <a:pathLst>
              <a:path h="4056377" w="582643">
                <a:moveTo>
                  <a:pt x="0" y="0"/>
                </a:moveTo>
                <a:lnTo>
                  <a:pt x="582643" y="0"/>
                </a:lnTo>
                <a:lnTo>
                  <a:pt x="582643" y="4056377"/>
                </a:lnTo>
                <a:lnTo>
                  <a:pt x="0" y="40563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-5860783" y="2668082"/>
            <a:ext cx="8288984" cy="2178906"/>
          </a:xfrm>
          <a:custGeom>
            <a:avLst/>
            <a:gdLst/>
            <a:ahLst/>
            <a:cxnLst/>
            <a:rect r="r" b="b" t="t" l="l"/>
            <a:pathLst>
              <a:path h="2178906" w="8288984">
                <a:moveTo>
                  <a:pt x="8288984" y="0"/>
                </a:moveTo>
                <a:lnTo>
                  <a:pt x="0" y="0"/>
                </a:lnTo>
                <a:lnTo>
                  <a:pt x="0" y="2178906"/>
                </a:lnTo>
                <a:lnTo>
                  <a:pt x="8288984" y="2178906"/>
                </a:lnTo>
                <a:lnTo>
                  <a:pt x="8288984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7501660" y="8875500"/>
            <a:ext cx="8288984" cy="2178906"/>
          </a:xfrm>
          <a:custGeom>
            <a:avLst/>
            <a:gdLst/>
            <a:ahLst/>
            <a:cxnLst/>
            <a:rect r="r" b="b" t="t" l="l"/>
            <a:pathLst>
              <a:path h="2178906" w="8288984">
                <a:moveTo>
                  <a:pt x="8288984" y="0"/>
                </a:moveTo>
                <a:lnTo>
                  <a:pt x="0" y="0"/>
                </a:lnTo>
                <a:lnTo>
                  <a:pt x="0" y="2178906"/>
                </a:lnTo>
                <a:lnTo>
                  <a:pt x="8288984" y="2178906"/>
                </a:lnTo>
                <a:lnTo>
                  <a:pt x="8288984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529896" y="3757535"/>
            <a:ext cx="8208728" cy="619150"/>
          </a:xfrm>
          <a:custGeom>
            <a:avLst/>
            <a:gdLst/>
            <a:ahLst/>
            <a:cxnLst/>
            <a:rect r="r" b="b" t="t" l="l"/>
            <a:pathLst>
              <a:path h="619150" w="8208728">
                <a:moveTo>
                  <a:pt x="0" y="0"/>
                </a:moveTo>
                <a:lnTo>
                  <a:pt x="8208729" y="0"/>
                </a:lnTo>
                <a:lnTo>
                  <a:pt x="8208729" y="619150"/>
                </a:lnTo>
                <a:lnTo>
                  <a:pt x="0" y="6191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560771" y="5736971"/>
            <a:ext cx="8016126" cy="439594"/>
          </a:xfrm>
          <a:custGeom>
            <a:avLst/>
            <a:gdLst/>
            <a:ahLst/>
            <a:cxnLst/>
            <a:rect r="r" b="b" t="t" l="l"/>
            <a:pathLst>
              <a:path h="439594" w="8016126">
                <a:moveTo>
                  <a:pt x="0" y="0"/>
                </a:moveTo>
                <a:lnTo>
                  <a:pt x="8016126" y="0"/>
                </a:lnTo>
                <a:lnTo>
                  <a:pt x="8016126" y="439594"/>
                </a:lnTo>
                <a:lnTo>
                  <a:pt x="0" y="43959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66133" y="6680642"/>
            <a:ext cx="8382814" cy="755857"/>
          </a:xfrm>
          <a:custGeom>
            <a:avLst/>
            <a:gdLst/>
            <a:ahLst/>
            <a:cxnLst/>
            <a:rect r="r" b="b" t="t" l="l"/>
            <a:pathLst>
              <a:path h="755857" w="8382814">
                <a:moveTo>
                  <a:pt x="0" y="0"/>
                </a:moveTo>
                <a:lnTo>
                  <a:pt x="8382814" y="0"/>
                </a:lnTo>
                <a:lnTo>
                  <a:pt x="8382814" y="755857"/>
                </a:lnTo>
                <a:lnTo>
                  <a:pt x="0" y="75585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976891" r="-17123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0800000">
            <a:off x="16378746" y="-714114"/>
            <a:ext cx="3090870" cy="2613190"/>
          </a:xfrm>
          <a:custGeom>
            <a:avLst/>
            <a:gdLst/>
            <a:ahLst/>
            <a:cxnLst/>
            <a:rect r="r" b="b" t="t" l="l"/>
            <a:pathLst>
              <a:path h="2613190" w="3090870">
                <a:moveTo>
                  <a:pt x="0" y="0"/>
                </a:moveTo>
                <a:lnTo>
                  <a:pt x="3090870" y="0"/>
                </a:lnTo>
                <a:lnTo>
                  <a:pt x="3090870" y="2613190"/>
                </a:lnTo>
                <a:lnTo>
                  <a:pt x="0" y="261319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34431" y="3923063"/>
            <a:ext cx="7318803" cy="3275346"/>
          </a:xfrm>
          <a:custGeom>
            <a:avLst/>
            <a:gdLst/>
            <a:ahLst/>
            <a:cxnLst/>
            <a:rect r="r" b="b" t="t" l="l"/>
            <a:pathLst>
              <a:path h="3275346" w="7318803">
                <a:moveTo>
                  <a:pt x="0" y="0"/>
                </a:moveTo>
                <a:lnTo>
                  <a:pt x="7318803" y="0"/>
                </a:lnTo>
                <a:lnTo>
                  <a:pt x="7318803" y="3275346"/>
                </a:lnTo>
                <a:lnTo>
                  <a:pt x="0" y="327534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249962" y="1298478"/>
            <a:ext cx="9472619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00"/>
              </a:lnSpc>
            </a:pPr>
            <a:r>
              <a:rPr lang="en-US" sz="5000" spc="-220">
                <a:solidFill>
                  <a:srgbClr val="000000"/>
                </a:solidFill>
                <a:latin typeface="Mokoto"/>
                <a:ea typeface="Mokoto"/>
                <a:cs typeface="Mokoto"/>
                <a:sym typeface="Mokoto"/>
              </a:rPr>
              <a:t>DATA PREPROCESSING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603922" y="2462940"/>
            <a:ext cx="5335909" cy="1098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4"/>
              </a:lnSpc>
            </a:pPr>
            <a:r>
              <a:rPr lang="en-US" sz="211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As we said before, capital letters, symbols (!, **, -...) were deleted, this new rows were saved to an auxiliar column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560771" y="2962832"/>
            <a:ext cx="3449278" cy="45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4"/>
              </a:lnSpc>
              <a:spcBef>
                <a:spcPct val="0"/>
              </a:spcBef>
            </a:pPr>
            <a:r>
              <a:rPr lang="en-US" b="true" sz="259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From this document: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473631" y="4789838"/>
            <a:ext cx="4480959" cy="45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4"/>
              </a:lnSpc>
              <a:spcBef>
                <a:spcPct val="0"/>
              </a:spcBef>
            </a:pPr>
            <a:r>
              <a:rPr lang="en-US" b="true" sz="259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 this cleaned document: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01751" y="647467"/>
            <a:ext cx="20835606" cy="3277326"/>
            <a:chOff x="0" y="0"/>
            <a:chExt cx="5487567" cy="8631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7567" cy="863164"/>
            </a:xfrm>
            <a:custGeom>
              <a:avLst/>
              <a:gdLst/>
              <a:ahLst/>
              <a:cxnLst/>
              <a:rect r="r" b="b" t="t" l="l"/>
              <a:pathLst>
                <a:path h="863164" w="5487567">
                  <a:moveTo>
                    <a:pt x="0" y="0"/>
                  </a:moveTo>
                  <a:lnTo>
                    <a:pt x="5487567" y="0"/>
                  </a:lnTo>
                  <a:lnTo>
                    <a:pt x="5487567" y="863164"/>
                  </a:lnTo>
                  <a:lnTo>
                    <a:pt x="0" y="863164"/>
                  </a:lnTo>
                  <a:close/>
                </a:path>
              </a:pathLst>
            </a:custGeom>
            <a:solidFill>
              <a:srgbClr val="4E767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487567" cy="910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804801" y="532855"/>
            <a:ext cx="2966397" cy="4433474"/>
          </a:xfrm>
          <a:custGeom>
            <a:avLst/>
            <a:gdLst/>
            <a:ahLst/>
            <a:cxnLst/>
            <a:rect r="r" b="b" t="t" l="l"/>
            <a:pathLst>
              <a:path h="4433474" w="2966397">
                <a:moveTo>
                  <a:pt x="0" y="0"/>
                </a:moveTo>
                <a:lnTo>
                  <a:pt x="2966398" y="0"/>
                </a:lnTo>
                <a:lnTo>
                  <a:pt x="2966398" y="4433474"/>
                </a:lnTo>
                <a:lnTo>
                  <a:pt x="0" y="44334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184219" y="8685008"/>
            <a:ext cx="6991948" cy="3394273"/>
          </a:xfrm>
          <a:custGeom>
            <a:avLst/>
            <a:gdLst/>
            <a:ahLst/>
            <a:cxnLst/>
            <a:rect r="r" b="b" t="t" l="l"/>
            <a:pathLst>
              <a:path h="3394273" w="6991948">
                <a:moveTo>
                  <a:pt x="0" y="0"/>
                </a:moveTo>
                <a:lnTo>
                  <a:pt x="6991948" y="0"/>
                </a:lnTo>
                <a:lnTo>
                  <a:pt x="6991948" y="3394273"/>
                </a:lnTo>
                <a:lnTo>
                  <a:pt x="0" y="33942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942087" y="5532993"/>
            <a:ext cx="4963720" cy="2292284"/>
          </a:xfrm>
          <a:custGeom>
            <a:avLst/>
            <a:gdLst/>
            <a:ahLst/>
            <a:cxnLst/>
            <a:rect r="r" b="b" t="t" l="l"/>
            <a:pathLst>
              <a:path h="2292284" w="4963720">
                <a:moveTo>
                  <a:pt x="0" y="0"/>
                </a:moveTo>
                <a:lnTo>
                  <a:pt x="4963719" y="0"/>
                </a:lnTo>
                <a:lnTo>
                  <a:pt x="4963719" y="2292284"/>
                </a:lnTo>
                <a:lnTo>
                  <a:pt x="0" y="22922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820" t="-6285" r="-27704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961300" y="5143500"/>
            <a:ext cx="5709505" cy="3229481"/>
          </a:xfrm>
          <a:custGeom>
            <a:avLst/>
            <a:gdLst/>
            <a:ahLst/>
            <a:cxnLst/>
            <a:rect r="r" b="b" t="t" l="l"/>
            <a:pathLst>
              <a:path h="3229481" w="5709505">
                <a:moveTo>
                  <a:pt x="0" y="0"/>
                </a:moveTo>
                <a:lnTo>
                  <a:pt x="5709505" y="0"/>
                </a:lnTo>
                <a:lnTo>
                  <a:pt x="5709505" y="3229481"/>
                </a:lnTo>
                <a:lnTo>
                  <a:pt x="0" y="32294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47080" y="5302168"/>
            <a:ext cx="6266703" cy="318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9606" indent="-259803" lvl="1">
              <a:lnSpc>
                <a:spcPts val="3200"/>
              </a:lnSpc>
              <a:buFont typeface="Arial"/>
              <a:buChar char="•"/>
            </a:pPr>
            <a:r>
              <a:rPr lang="en-US" b="true" sz="2406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Convert headlines to numerical vectors</a:t>
            </a:r>
          </a:p>
          <a:p>
            <a:pPr algn="l" marL="519606" indent="-259803" lvl="1">
              <a:lnSpc>
                <a:spcPts val="3200"/>
              </a:lnSpc>
              <a:buFont typeface="Arial"/>
              <a:buChar char="•"/>
            </a:pPr>
            <a:r>
              <a:rPr lang="en-US" b="true" sz="2406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Keep bigrams &amp; trigrams to preserve context</a:t>
            </a:r>
          </a:p>
          <a:p>
            <a:pPr algn="l" marL="519606" indent="-259803" lvl="1">
              <a:lnSpc>
                <a:spcPts val="3200"/>
              </a:lnSpc>
              <a:buFont typeface="Arial"/>
              <a:buChar char="•"/>
            </a:pPr>
            <a:r>
              <a:rPr lang="en-US" b="true" sz="2406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Top 5000 features, ignore rare (min_df=5) and frequent (max_df=0.9) words</a:t>
            </a:r>
          </a:p>
          <a:p>
            <a:pPr algn="l">
              <a:lnSpc>
                <a:spcPts val="320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480150" y="1756540"/>
            <a:ext cx="11808149" cy="982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60"/>
              </a:lnSpc>
            </a:pPr>
            <a:r>
              <a:rPr lang="en-US" sz="6000">
                <a:solidFill>
                  <a:srgbClr val="F0F6F5"/>
                </a:solidFill>
                <a:latin typeface="Mokoto"/>
                <a:ea typeface="Mokoto"/>
                <a:cs typeface="Mokoto"/>
                <a:sym typeface="Mokoto"/>
              </a:rPr>
              <a:t>TEXT VECTORIZATION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88299" y="1718440"/>
            <a:ext cx="3439478" cy="102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80"/>
              </a:lnSpc>
              <a:spcBef>
                <a:spcPct val="0"/>
              </a:spcBef>
            </a:pPr>
            <a:r>
              <a:rPr lang="en-US" sz="6000" spc="-696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(TF-IDF)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80150" y="4177389"/>
            <a:ext cx="5026401" cy="788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00"/>
              </a:lnSpc>
              <a:spcBef>
                <a:spcPct val="0"/>
              </a:spcBef>
            </a:pPr>
            <a:r>
              <a:rPr lang="en-US" b="true" sz="2406" strike="noStrike" u="none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TF-IDF (Term Frequency – Inverse Document Frequency):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01751" y="647467"/>
            <a:ext cx="20835606" cy="3277326"/>
            <a:chOff x="0" y="0"/>
            <a:chExt cx="5487567" cy="8631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7567" cy="863164"/>
            </a:xfrm>
            <a:custGeom>
              <a:avLst/>
              <a:gdLst/>
              <a:ahLst/>
              <a:cxnLst/>
              <a:rect r="r" b="b" t="t" l="l"/>
              <a:pathLst>
                <a:path h="863164" w="5487567">
                  <a:moveTo>
                    <a:pt x="0" y="0"/>
                  </a:moveTo>
                  <a:lnTo>
                    <a:pt x="5487567" y="0"/>
                  </a:lnTo>
                  <a:lnTo>
                    <a:pt x="5487567" y="863164"/>
                  </a:lnTo>
                  <a:lnTo>
                    <a:pt x="0" y="863164"/>
                  </a:lnTo>
                  <a:close/>
                </a:path>
              </a:pathLst>
            </a:custGeom>
            <a:solidFill>
              <a:srgbClr val="4E767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487567" cy="910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71268" y="1717578"/>
            <a:ext cx="16945463" cy="128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53"/>
              </a:lnSpc>
            </a:pPr>
            <a:r>
              <a:rPr lang="en-US" sz="8655">
                <a:solidFill>
                  <a:srgbClr val="FBFEFE"/>
                </a:solidFill>
                <a:latin typeface="Mokoto"/>
                <a:ea typeface="Mokoto"/>
                <a:cs typeface="Mokoto"/>
                <a:sym typeface="Mokoto"/>
              </a:rPr>
              <a:t>MODELS TESTED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94073" y="5918478"/>
            <a:ext cx="944968" cy="944968"/>
          </a:xfrm>
          <a:custGeom>
            <a:avLst/>
            <a:gdLst/>
            <a:ahLst/>
            <a:cxnLst/>
            <a:rect r="r" b="b" t="t" l="l"/>
            <a:pathLst>
              <a:path h="944968" w="944968">
                <a:moveTo>
                  <a:pt x="0" y="0"/>
                </a:moveTo>
                <a:lnTo>
                  <a:pt x="944968" y="0"/>
                </a:lnTo>
                <a:lnTo>
                  <a:pt x="944968" y="944968"/>
                </a:lnTo>
                <a:lnTo>
                  <a:pt x="0" y="9449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-5603399" y="1553416"/>
            <a:ext cx="8288984" cy="2178906"/>
          </a:xfrm>
          <a:custGeom>
            <a:avLst/>
            <a:gdLst/>
            <a:ahLst/>
            <a:cxnLst/>
            <a:rect r="r" b="b" t="t" l="l"/>
            <a:pathLst>
              <a:path h="2178906" w="8288984">
                <a:moveTo>
                  <a:pt x="0" y="0"/>
                </a:moveTo>
                <a:lnTo>
                  <a:pt x="8288985" y="0"/>
                </a:lnTo>
                <a:lnTo>
                  <a:pt x="8288985" y="2178905"/>
                </a:lnTo>
                <a:lnTo>
                  <a:pt x="0" y="21789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4879630" y="-1089453"/>
            <a:ext cx="8288984" cy="2178906"/>
          </a:xfrm>
          <a:custGeom>
            <a:avLst/>
            <a:gdLst/>
            <a:ahLst/>
            <a:cxnLst/>
            <a:rect r="r" b="b" t="t" l="l"/>
            <a:pathLst>
              <a:path h="2178906" w="8288984">
                <a:moveTo>
                  <a:pt x="0" y="0"/>
                </a:moveTo>
                <a:lnTo>
                  <a:pt x="8288984" y="0"/>
                </a:lnTo>
                <a:lnTo>
                  <a:pt x="8288984" y="2178906"/>
                </a:lnTo>
                <a:lnTo>
                  <a:pt x="0" y="21789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57726" y="8425053"/>
            <a:ext cx="3285040" cy="3285040"/>
          </a:xfrm>
          <a:custGeom>
            <a:avLst/>
            <a:gdLst/>
            <a:ahLst/>
            <a:cxnLst/>
            <a:rect r="r" b="b" t="t" l="l"/>
            <a:pathLst>
              <a:path h="3285040" w="3285040">
                <a:moveTo>
                  <a:pt x="0" y="0"/>
                </a:moveTo>
                <a:lnTo>
                  <a:pt x="3285041" y="0"/>
                </a:lnTo>
                <a:lnTo>
                  <a:pt x="3285041" y="3285040"/>
                </a:lnTo>
                <a:lnTo>
                  <a:pt x="0" y="32850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318866" y="8425053"/>
            <a:ext cx="4158770" cy="2948946"/>
          </a:xfrm>
          <a:custGeom>
            <a:avLst/>
            <a:gdLst/>
            <a:ahLst/>
            <a:cxnLst/>
            <a:rect r="r" b="b" t="t" l="l"/>
            <a:pathLst>
              <a:path h="2948946" w="4158770">
                <a:moveTo>
                  <a:pt x="0" y="0"/>
                </a:moveTo>
                <a:lnTo>
                  <a:pt x="4158770" y="0"/>
                </a:lnTo>
                <a:lnTo>
                  <a:pt x="4158770" y="2948946"/>
                </a:lnTo>
                <a:lnTo>
                  <a:pt x="0" y="29489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11" id="11"/>
          <p:cNvGraphicFramePr/>
          <p:nvPr/>
        </p:nvGraphicFramePr>
        <p:xfrm>
          <a:off x="11055575" y="4288973"/>
          <a:ext cx="5657850" cy="3771900"/>
        </p:xfrm>
        <a:graphic>
          <a:graphicData uri="http://schemas.openxmlformats.org/presentationml/2006/ole">
            <p:oleObj imgW="6781800" imgH="4902200" r:id="rId11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2" id="12"/>
          <p:cNvSpPr txBox="true"/>
          <p:nvPr/>
        </p:nvSpPr>
        <p:spPr>
          <a:xfrm rot="0">
            <a:off x="2365621" y="6152088"/>
            <a:ext cx="5362009" cy="500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u="sng">
                <a:solidFill>
                  <a:srgbClr val="000000"/>
                </a:solidFill>
                <a:latin typeface="Mokoto"/>
                <a:ea typeface="Mokoto"/>
                <a:cs typeface="Mokoto"/>
                <a:sym typeface="Mokoto"/>
              </a:rPr>
              <a:t>LOGISTIC REGRESSION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1268" y="4334692"/>
            <a:ext cx="8748815" cy="1589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9606" indent="-259803" lvl="1">
              <a:lnSpc>
                <a:spcPts val="3200"/>
              </a:lnSpc>
              <a:buFont typeface="Arial"/>
              <a:buChar char="•"/>
            </a:pPr>
            <a:r>
              <a:rPr lang="en-US" b="true" sz="240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Logistic Regression → fast, interpretable, good baseline</a:t>
            </a:r>
          </a:p>
          <a:p>
            <a:pPr algn="l" marL="519606" indent="-259803" lvl="1">
              <a:lnSpc>
                <a:spcPts val="3200"/>
              </a:lnSpc>
              <a:buFont typeface="Arial"/>
              <a:buChar char="•"/>
            </a:pPr>
            <a:r>
              <a:rPr lang="en-US" b="true" sz="240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SVM → handles complex boundaries</a:t>
            </a:r>
          </a:p>
          <a:p>
            <a:pPr algn="l" marL="519606" indent="-259803" lvl="1">
              <a:lnSpc>
                <a:spcPts val="3200"/>
              </a:lnSpc>
              <a:buFont typeface="Arial"/>
              <a:buChar char="•"/>
            </a:pPr>
            <a:r>
              <a:rPr lang="en-US" b="true" sz="240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Trees/Ensembles → more complex, may overfit</a:t>
            </a:r>
          </a:p>
          <a:p>
            <a:pPr algn="l">
              <a:lnSpc>
                <a:spcPts val="3200"/>
              </a:lnSpc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194073" y="7115905"/>
            <a:ext cx="944968" cy="944968"/>
          </a:xfrm>
          <a:custGeom>
            <a:avLst/>
            <a:gdLst/>
            <a:ahLst/>
            <a:cxnLst/>
            <a:rect r="r" b="b" t="t" l="l"/>
            <a:pathLst>
              <a:path h="944968" w="944968">
                <a:moveTo>
                  <a:pt x="0" y="0"/>
                </a:moveTo>
                <a:lnTo>
                  <a:pt x="944968" y="0"/>
                </a:lnTo>
                <a:lnTo>
                  <a:pt x="944968" y="944968"/>
                </a:lnTo>
                <a:lnTo>
                  <a:pt x="0" y="9449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434678" y="7276491"/>
            <a:ext cx="3815124" cy="57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 u="sng">
                <a:solidFill>
                  <a:srgbClr val="000000"/>
                </a:solidFill>
                <a:latin typeface="Mokoto"/>
                <a:ea typeface="Mokoto"/>
                <a:cs typeface="Mokoto"/>
                <a:sym typeface="Mokoto"/>
              </a:rPr>
              <a:t>SVM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2805621" y="8942007"/>
            <a:ext cx="8288984" cy="2178906"/>
          </a:xfrm>
          <a:custGeom>
            <a:avLst/>
            <a:gdLst/>
            <a:ahLst/>
            <a:cxnLst/>
            <a:rect r="r" b="b" t="t" l="l"/>
            <a:pathLst>
              <a:path h="2178906" w="8288984">
                <a:moveTo>
                  <a:pt x="0" y="0"/>
                </a:moveTo>
                <a:lnTo>
                  <a:pt x="8288985" y="0"/>
                </a:lnTo>
                <a:lnTo>
                  <a:pt x="8288985" y="2178906"/>
                </a:lnTo>
                <a:lnTo>
                  <a:pt x="0" y="21789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179054" y="-537405"/>
            <a:ext cx="10043268" cy="11470777"/>
            <a:chOff x="0" y="0"/>
            <a:chExt cx="2645141" cy="30211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645141" cy="3021110"/>
            </a:xfrm>
            <a:custGeom>
              <a:avLst/>
              <a:gdLst/>
              <a:ahLst/>
              <a:cxnLst/>
              <a:rect r="r" b="b" t="t" l="l"/>
              <a:pathLst>
                <a:path h="3021110" w="2645141">
                  <a:moveTo>
                    <a:pt x="0" y="0"/>
                  </a:moveTo>
                  <a:lnTo>
                    <a:pt x="2645141" y="0"/>
                  </a:lnTo>
                  <a:lnTo>
                    <a:pt x="2645141" y="3021110"/>
                  </a:lnTo>
                  <a:lnTo>
                    <a:pt x="0" y="3021110"/>
                  </a:lnTo>
                  <a:close/>
                </a:path>
              </a:pathLst>
            </a:custGeom>
            <a:solidFill>
              <a:srgbClr val="4E767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645141" cy="30687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0800000">
            <a:off x="15098928" y="-845750"/>
            <a:ext cx="7130775" cy="1874450"/>
          </a:xfrm>
          <a:custGeom>
            <a:avLst/>
            <a:gdLst/>
            <a:ahLst/>
            <a:cxnLst/>
            <a:rect r="r" b="b" t="t" l="l"/>
            <a:pathLst>
              <a:path h="1874450" w="7130775">
                <a:moveTo>
                  <a:pt x="0" y="0"/>
                </a:moveTo>
                <a:lnTo>
                  <a:pt x="7130775" y="0"/>
                </a:lnTo>
                <a:lnTo>
                  <a:pt x="7130775" y="1874450"/>
                </a:lnTo>
                <a:lnTo>
                  <a:pt x="0" y="18744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49151" y="3291342"/>
            <a:ext cx="9329904" cy="2425194"/>
          </a:xfrm>
          <a:custGeom>
            <a:avLst/>
            <a:gdLst/>
            <a:ahLst/>
            <a:cxnLst/>
            <a:rect r="r" b="b" t="t" l="l"/>
            <a:pathLst>
              <a:path h="2425194" w="9329904">
                <a:moveTo>
                  <a:pt x="0" y="0"/>
                </a:moveTo>
                <a:lnTo>
                  <a:pt x="9329903" y="0"/>
                </a:lnTo>
                <a:lnTo>
                  <a:pt x="9329903" y="2425194"/>
                </a:lnTo>
                <a:lnTo>
                  <a:pt x="0" y="24251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7103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106760" y="2896926"/>
            <a:ext cx="5710573" cy="2427430"/>
          </a:xfrm>
          <a:custGeom>
            <a:avLst/>
            <a:gdLst/>
            <a:ahLst/>
            <a:cxnLst/>
            <a:rect r="r" b="b" t="t" l="l"/>
            <a:pathLst>
              <a:path h="2427430" w="5710573">
                <a:moveTo>
                  <a:pt x="0" y="0"/>
                </a:moveTo>
                <a:lnTo>
                  <a:pt x="5710573" y="0"/>
                </a:lnTo>
                <a:lnTo>
                  <a:pt x="5710573" y="2427430"/>
                </a:lnTo>
                <a:lnTo>
                  <a:pt x="0" y="24274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106760" y="5995991"/>
            <a:ext cx="5710573" cy="2540155"/>
          </a:xfrm>
          <a:custGeom>
            <a:avLst/>
            <a:gdLst/>
            <a:ahLst/>
            <a:cxnLst/>
            <a:rect r="r" b="b" t="t" l="l"/>
            <a:pathLst>
              <a:path h="2540155" w="5710573">
                <a:moveTo>
                  <a:pt x="0" y="0"/>
                </a:moveTo>
                <a:lnTo>
                  <a:pt x="5710573" y="0"/>
                </a:lnTo>
                <a:lnTo>
                  <a:pt x="5710573" y="2540154"/>
                </a:lnTo>
                <a:lnTo>
                  <a:pt x="0" y="25401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264771"/>
            <a:ext cx="5742221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05061C"/>
                </a:solidFill>
                <a:latin typeface="Mokoto"/>
                <a:ea typeface="Mokoto"/>
                <a:cs typeface="Mokoto"/>
                <a:sym typeface="Mokoto"/>
              </a:rPr>
              <a:t>Model Evaluation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89297" y="2675619"/>
            <a:ext cx="8934065" cy="5583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8280" indent="-279140" lvl="1">
              <a:lnSpc>
                <a:spcPts val="3439"/>
              </a:lnSpc>
              <a:buFont typeface="Arial"/>
              <a:buChar char="•"/>
            </a:pPr>
            <a:r>
              <a:rPr lang="en-US" b="true" sz="2585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Models evaluated using a validation set (80/20 split)</a:t>
            </a:r>
          </a:p>
          <a:p>
            <a:pPr algn="l">
              <a:lnSpc>
                <a:spcPts val="3439"/>
              </a:lnSpc>
            </a:pPr>
          </a:p>
          <a:p>
            <a:pPr algn="l">
              <a:lnSpc>
                <a:spcPts val="3439"/>
              </a:lnSpc>
            </a:pPr>
          </a:p>
          <a:p>
            <a:pPr algn="l">
              <a:lnSpc>
                <a:spcPts val="3439"/>
              </a:lnSpc>
            </a:pPr>
          </a:p>
          <a:p>
            <a:pPr algn="l">
              <a:lnSpc>
                <a:spcPts val="3439"/>
              </a:lnSpc>
            </a:pPr>
          </a:p>
          <a:p>
            <a:pPr algn="l">
              <a:lnSpc>
                <a:spcPts val="3439"/>
              </a:lnSpc>
            </a:pPr>
          </a:p>
          <a:p>
            <a:pPr algn="l">
              <a:lnSpc>
                <a:spcPts val="3439"/>
              </a:lnSpc>
            </a:pPr>
          </a:p>
          <a:p>
            <a:pPr algn="l" marL="558280" indent="-279140" lvl="1">
              <a:lnSpc>
                <a:spcPts val="3439"/>
              </a:lnSpc>
              <a:buFont typeface="Arial"/>
              <a:buChar char="•"/>
            </a:pPr>
            <a:r>
              <a:rPr lang="en-US" b="true" sz="2585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Metrics used:</a:t>
            </a:r>
          </a:p>
          <a:p>
            <a:pPr algn="l" marL="558280" indent="-279140" lvl="1">
              <a:lnSpc>
                <a:spcPts val="3439"/>
              </a:lnSpc>
              <a:buFont typeface="Arial"/>
              <a:buChar char="•"/>
            </a:pPr>
            <a:r>
              <a:rPr lang="en-US" b="true" sz="2585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Accuracy – overall correctness</a:t>
            </a:r>
          </a:p>
          <a:p>
            <a:pPr algn="l" marL="558280" indent="-279140" lvl="1">
              <a:lnSpc>
                <a:spcPts val="3439"/>
              </a:lnSpc>
              <a:buFont typeface="Arial"/>
              <a:buChar char="•"/>
            </a:pPr>
            <a:r>
              <a:rPr lang="en-US" b="true" sz="2585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Precision – correctness of predicted labels</a:t>
            </a:r>
          </a:p>
          <a:p>
            <a:pPr algn="l" marL="558280" indent="-279140" lvl="1">
              <a:lnSpc>
                <a:spcPts val="3439"/>
              </a:lnSpc>
              <a:buFont typeface="Arial"/>
              <a:buChar char="•"/>
            </a:pPr>
            <a:r>
              <a:rPr lang="en-US" b="true" sz="2585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Recall – ability to find all true labels</a:t>
            </a:r>
          </a:p>
          <a:p>
            <a:pPr algn="l" marL="558280" indent="-279140" lvl="1">
              <a:lnSpc>
                <a:spcPts val="3439"/>
              </a:lnSpc>
              <a:buFont typeface="Arial"/>
              <a:buChar char="•"/>
            </a:pPr>
            <a:r>
              <a:rPr lang="en-US" b="true" sz="2585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F1-score – balance between precision and recall</a:t>
            </a:r>
          </a:p>
          <a:p>
            <a:pPr algn="l" marL="558280" indent="-279140" lvl="1">
              <a:lnSpc>
                <a:spcPts val="3439"/>
              </a:lnSpc>
              <a:buFont typeface="Arial"/>
              <a:buChar char="•"/>
            </a:pPr>
            <a:r>
              <a:rPr lang="en-US" b="true" sz="2585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Confusion Matrix used to analyze prediction errors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2805621" y="8942007"/>
            <a:ext cx="8288984" cy="2178906"/>
          </a:xfrm>
          <a:custGeom>
            <a:avLst/>
            <a:gdLst/>
            <a:ahLst/>
            <a:cxnLst/>
            <a:rect r="r" b="b" t="t" l="l"/>
            <a:pathLst>
              <a:path h="2178906" w="8288984">
                <a:moveTo>
                  <a:pt x="0" y="0"/>
                </a:moveTo>
                <a:lnTo>
                  <a:pt x="8288985" y="0"/>
                </a:lnTo>
                <a:lnTo>
                  <a:pt x="8288985" y="2178906"/>
                </a:lnTo>
                <a:lnTo>
                  <a:pt x="0" y="21789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179054" y="-537405"/>
            <a:ext cx="10043268" cy="11470777"/>
            <a:chOff x="0" y="0"/>
            <a:chExt cx="2645141" cy="30211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645141" cy="3021110"/>
            </a:xfrm>
            <a:custGeom>
              <a:avLst/>
              <a:gdLst/>
              <a:ahLst/>
              <a:cxnLst/>
              <a:rect r="r" b="b" t="t" l="l"/>
              <a:pathLst>
                <a:path h="3021110" w="2645141">
                  <a:moveTo>
                    <a:pt x="0" y="0"/>
                  </a:moveTo>
                  <a:lnTo>
                    <a:pt x="2645141" y="0"/>
                  </a:lnTo>
                  <a:lnTo>
                    <a:pt x="2645141" y="3021110"/>
                  </a:lnTo>
                  <a:lnTo>
                    <a:pt x="0" y="3021110"/>
                  </a:lnTo>
                  <a:close/>
                </a:path>
              </a:pathLst>
            </a:custGeom>
            <a:solidFill>
              <a:srgbClr val="4E767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645141" cy="30687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0800000">
            <a:off x="15098928" y="-845750"/>
            <a:ext cx="7130775" cy="1874450"/>
          </a:xfrm>
          <a:custGeom>
            <a:avLst/>
            <a:gdLst/>
            <a:ahLst/>
            <a:cxnLst/>
            <a:rect r="r" b="b" t="t" l="l"/>
            <a:pathLst>
              <a:path h="1874450" w="7130775">
                <a:moveTo>
                  <a:pt x="0" y="0"/>
                </a:moveTo>
                <a:lnTo>
                  <a:pt x="7130775" y="0"/>
                </a:lnTo>
                <a:lnTo>
                  <a:pt x="7130775" y="1874450"/>
                </a:lnTo>
                <a:lnTo>
                  <a:pt x="0" y="18744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49151" y="3291342"/>
            <a:ext cx="9329904" cy="2425194"/>
          </a:xfrm>
          <a:custGeom>
            <a:avLst/>
            <a:gdLst/>
            <a:ahLst/>
            <a:cxnLst/>
            <a:rect r="r" b="b" t="t" l="l"/>
            <a:pathLst>
              <a:path h="2425194" w="9329904">
                <a:moveTo>
                  <a:pt x="0" y="0"/>
                </a:moveTo>
                <a:lnTo>
                  <a:pt x="9329903" y="0"/>
                </a:lnTo>
                <a:lnTo>
                  <a:pt x="9329903" y="2425194"/>
                </a:lnTo>
                <a:lnTo>
                  <a:pt x="0" y="24251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7103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554981" y="1829671"/>
            <a:ext cx="7386507" cy="6429092"/>
          </a:xfrm>
          <a:custGeom>
            <a:avLst/>
            <a:gdLst/>
            <a:ahLst/>
            <a:cxnLst/>
            <a:rect r="r" b="b" t="t" l="l"/>
            <a:pathLst>
              <a:path h="6429092" w="7386507">
                <a:moveTo>
                  <a:pt x="0" y="0"/>
                </a:moveTo>
                <a:lnTo>
                  <a:pt x="7386507" y="0"/>
                </a:lnTo>
                <a:lnTo>
                  <a:pt x="7386507" y="6429092"/>
                </a:lnTo>
                <a:lnTo>
                  <a:pt x="0" y="642909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7622" t="0" r="-16026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264771"/>
            <a:ext cx="5742221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05061C"/>
                </a:solidFill>
                <a:latin typeface="Mokoto"/>
                <a:ea typeface="Mokoto"/>
                <a:cs typeface="Mokoto"/>
                <a:sym typeface="Mokoto"/>
              </a:rPr>
              <a:t>Model Evaluation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89297" y="2675619"/>
            <a:ext cx="8934065" cy="5583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8280" indent="-279140" lvl="1">
              <a:lnSpc>
                <a:spcPts val="3439"/>
              </a:lnSpc>
              <a:buFont typeface="Arial"/>
              <a:buChar char="•"/>
            </a:pPr>
            <a:r>
              <a:rPr lang="en-US" b="true" sz="2585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Models evaluated using a validation set (80/20 split)</a:t>
            </a:r>
          </a:p>
          <a:p>
            <a:pPr algn="l">
              <a:lnSpc>
                <a:spcPts val="3439"/>
              </a:lnSpc>
            </a:pPr>
          </a:p>
          <a:p>
            <a:pPr algn="l">
              <a:lnSpc>
                <a:spcPts val="3439"/>
              </a:lnSpc>
            </a:pPr>
          </a:p>
          <a:p>
            <a:pPr algn="l">
              <a:lnSpc>
                <a:spcPts val="3439"/>
              </a:lnSpc>
            </a:pPr>
          </a:p>
          <a:p>
            <a:pPr algn="l">
              <a:lnSpc>
                <a:spcPts val="3439"/>
              </a:lnSpc>
            </a:pPr>
          </a:p>
          <a:p>
            <a:pPr algn="l">
              <a:lnSpc>
                <a:spcPts val="3439"/>
              </a:lnSpc>
            </a:pPr>
          </a:p>
          <a:p>
            <a:pPr algn="l">
              <a:lnSpc>
                <a:spcPts val="3439"/>
              </a:lnSpc>
            </a:pPr>
          </a:p>
          <a:p>
            <a:pPr algn="l" marL="558280" indent="-279140" lvl="1">
              <a:lnSpc>
                <a:spcPts val="3439"/>
              </a:lnSpc>
              <a:buFont typeface="Arial"/>
              <a:buChar char="•"/>
            </a:pPr>
            <a:r>
              <a:rPr lang="en-US" b="true" sz="2585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Metrics used:</a:t>
            </a:r>
          </a:p>
          <a:p>
            <a:pPr algn="l" marL="558280" indent="-279140" lvl="1">
              <a:lnSpc>
                <a:spcPts val="3439"/>
              </a:lnSpc>
              <a:buFont typeface="Arial"/>
              <a:buChar char="•"/>
            </a:pPr>
            <a:r>
              <a:rPr lang="en-US" b="true" sz="2585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Accuracy – overall correctness</a:t>
            </a:r>
          </a:p>
          <a:p>
            <a:pPr algn="l" marL="558280" indent="-279140" lvl="1">
              <a:lnSpc>
                <a:spcPts val="3439"/>
              </a:lnSpc>
              <a:buFont typeface="Arial"/>
              <a:buChar char="•"/>
            </a:pPr>
            <a:r>
              <a:rPr lang="en-US" b="true" sz="2585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Precision – correctness of predicted labels</a:t>
            </a:r>
          </a:p>
          <a:p>
            <a:pPr algn="l" marL="558280" indent="-279140" lvl="1">
              <a:lnSpc>
                <a:spcPts val="3439"/>
              </a:lnSpc>
              <a:buFont typeface="Arial"/>
              <a:buChar char="•"/>
            </a:pPr>
            <a:r>
              <a:rPr lang="en-US" b="true" sz="2585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Recall – ability to find all true labels</a:t>
            </a:r>
          </a:p>
          <a:p>
            <a:pPr algn="l" marL="558280" indent="-279140" lvl="1">
              <a:lnSpc>
                <a:spcPts val="3439"/>
              </a:lnSpc>
              <a:buFont typeface="Arial"/>
              <a:buChar char="•"/>
            </a:pPr>
            <a:r>
              <a:rPr lang="en-US" b="true" sz="2585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F1-score – balance between precision and recall</a:t>
            </a:r>
          </a:p>
          <a:p>
            <a:pPr algn="l" marL="558280" indent="-279140" lvl="1">
              <a:lnSpc>
                <a:spcPts val="3439"/>
              </a:lnSpc>
              <a:buFont typeface="Arial"/>
              <a:buChar char="•"/>
            </a:pPr>
            <a:r>
              <a:rPr lang="en-US" b="true" sz="2585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Confusion Matrix used to analyze prediction errors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2805621" y="8942007"/>
            <a:ext cx="8288984" cy="2178906"/>
          </a:xfrm>
          <a:custGeom>
            <a:avLst/>
            <a:gdLst/>
            <a:ahLst/>
            <a:cxnLst/>
            <a:rect r="r" b="b" t="t" l="l"/>
            <a:pathLst>
              <a:path h="2178906" w="8288984">
                <a:moveTo>
                  <a:pt x="0" y="0"/>
                </a:moveTo>
                <a:lnTo>
                  <a:pt x="8288985" y="0"/>
                </a:lnTo>
                <a:lnTo>
                  <a:pt x="8288985" y="2178906"/>
                </a:lnTo>
                <a:lnTo>
                  <a:pt x="0" y="21789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674410" y="-537405"/>
            <a:ext cx="11547913" cy="11470777"/>
            <a:chOff x="0" y="0"/>
            <a:chExt cx="3041426" cy="30211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41426" cy="3021110"/>
            </a:xfrm>
            <a:custGeom>
              <a:avLst/>
              <a:gdLst/>
              <a:ahLst/>
              <a:cxnLst/>
              <a:rect r="r" b="b" t="t" l="l"/>
              <a:pathLst>
                <a:path h="3021110" w="3041426">
                  <a:moveTo>
                    <a:pt x="0" y="0"/>
                  </a:moveTo>
                  <a:lnTo>
                    <a:pt x="3041426" y="0"/>
                  </a:lnTo>
                  <a:lnTo>
                    <a:pt x="3041426" y="3021110"/>
                  </a:lnTo>
                  <a:lnTo>
                    <a:pt x="0" y="3021110"/>
                  </a:lnTo>
                  <a:close/>
                </a:path>
              </a:pathLst>
            </a:custGeom>
            <a:solidFill>
              <a:srgbClr val="4E767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041426" cy="30687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0800000">
            <a:off x="15098928" y="-845750"/>
            <a:ext cx="7130775" cy="1874450"/>
          </a:xfrm>
          <a:custGeom>
            <a:avLst/>
            <a:gdLst/>
            <a:ahLst/>
            <a:cxnLst/>
            <a:rect r="r" b="b" t="t" l="l"/>
            <a:pathLst>
              <a:path h="1874450" w="7130775">
                <a:moveTo>
                  <a:pt x="0" y="0"/>
                </a:moveTo>
                <a:lnTo>
                  <a:pt x="7130775" y="0"/>
                </a:lnTo>
                <a:lnTo>
                  <a:pt x="7130775" y="1874450"/>
                </a:lnTo>
                <a:lnTo>
                  <a:pt x="0" y="18744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4632476"/>
            <a:ext cx="6361031" cy="5222618"/>
          </a:xfrm>
          <a:custGeom>
            <a:avLst/>
            <a:gdLst/>
            <a:ahLst/>
            <a:cxnLst/>
            <a:rect r="r" b="b" t="t" l="l"/>
            <a:pathLst>
              <a:path h="5222618" w="6361031">
                <a:moveTo>
                  <a:pt x="0" y="0"/>
                </a:moveTo>
                <a:lnTo>
                  <a:pt x="6361031" y="0"/>
                </a:lnTo>
                <a:lnTo>
                  <a:pt x="6361031" y="5222617"/>
                </a:lnTo>
                <a:lnTo>
                  <a:pt x="0" y="52226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172700" y="4632476"/>
            <a:ext cx="6361031" cy="5200173"/>
          </a:xfrm>
          <a:custGeom>
            <a:avLst/>
            <a:gdLst/>
            <a:ahLst/>
            <a:cxnLst/>
            <a:rect r="r" b="b" t="t" l="l"/>
            <a:pathLst>
              <a:path h="5200173" w="6361031">
                <a:moveTo>
                  <a:pt x="0" y="0"/>
                </a:moveTo>
                <a:lnTo>
                  <a:pt x="6361031" y="0"/>
                </a:lnTo>
                <a:lnTo>
                  <a:pt x="6361031" y="5200172"/>
                </a:lnTo>
                <a:lnTo>
                  <a:pt x="0" y="52001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171962" y="701021"/>
            <a:ext cx="5742221" cy="1180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07"/>
              </a:lnSpc>
              <a:spcBef>
                <a:spcPct val="0"/>
              </a:spcBef>
            </a:pPr>
            <a:r>
              <a:rPr lang="en-US" sz="6791" strike="noStrike" u="none">
                <a:solidFill>
                  <a:srgbClr val="000000"/>
                </a:solidFill>
                <a:latin typeface="Mokoto"/>
                <a:ea typeface="Mokoto"/>
                <a:cs typeface="Mokoto"/>
                <a:sym typeface="Mokoto"/>
              </a:rPr>
              <a:t>Model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77843" y="2356348"/>
            <a:ext cx="8115300" cy="2567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9"/>
              </a:lnSpc>
            </a:pPr>
            <a:r>
              <a:rPr lang="en-US" sz="2585" b="true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Confusion matrix example (Logistic Regression):</a:t>
            </a:r>
          </a:p>
          <a:p>
            <a:pPr algn="l" marL="558280" indent="-279140" lvl="1">
              <a:lnSpc>
                <a:spcPts val="3439"/>
              </a:lnSpc>
              <a:buFont typeface="Arial"/>
              <a:buChar char="•"/>
            </a:pPr>
            <a:r>
              <a:rPr lang="en-US" b="true" sz="2585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Most fake (0) and real (1) headlines correctly classified</a:t>
            </a:r>
          </a:p>
          <a:p>
            <a:pPr algn="l" marL="558280" indent="-279140" lvl="1">
              <a:lnSpc>
                <a:spcPts val="3439"/>
              </a:lnSpc>
              <a:buFont typeface="Arial"/>
              <a:buChar char="•"/>
            </a:pPr>
            <a:r>
              <a:rPr lang="en-US" b="true" sz="2585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Few misclassifications between similar headlines</a:t>
            </a:r>
          </a:p>
          <a:p>
            <a:pPr algn="l">
              <a:lnSpc>
                <a:spcPts val="343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172700" y="2639888"/>
            <a:ext cx="6233559" cy="1195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7"/>
              </a:lnSpc>
              <a:spcBef>
                <a:spcPct val="0"/>
              </a:spcBef>
            </a:pPr>
            <a:r>
              <a:rPr lang="en-US" b="true" sz="3674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SVM: Similar performance, slightly more confusion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793143" y="701021"/>
            <a:ext cx="7799407" cy="1180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07"/>
              </a:lnSpc>
            </a:pPr>
            <a:r>
              <a:rPr lang="en-US" sz="6791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Evaluation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18079" y="5143500"/>
            <a:ext cx="1400948" cy="789838"/>
            <a:chOff x="0" y="0"/>
            <a:chExt cx="1867931" cy="105311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867931" cy="1053117"/>
              <a:chOff x="0" y="0"/>
              <a:chExt cx="1159187" cy="65353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159187" cy="653536"/>
              </a:xfrm>
              <a:custGeom>
                <a:avLst/>
                <a:gdLst/>
                <a:ahLst/>
                <a:cxnLst/>
                <a:rect r="r" b="b" t="t" l="l"/>
                <a:pathLst>
                  <a:path h="653536" w="1159187">
                    <a:moveTo>
                      <a:pt x="36367" y="0"/>
                    </a:moveTo>
                    <a:lnTo>
                      <a:pt x="1122820" y="0"/>
                    </a:lnTo>
                    <a:cubicBezTo>
                      <a:pt x="1142905" y="0"/>
                      <a:pt x="1159187" y="16282"/>
                      <a:pt x="1159187" y="36367"/>
                    </a:cubicBezTo>
                    <a:lnTo>
                      <a:pt x="1159187" y="617169"/>
                    </a:lnTo>
                    <a:cubicBezTo>
                      <a:pt x="1159187" y="637254"/>
                      <a:pt x="1142905" y="653536"/>
                      <a:pt x="1122820" y="653536"/>
                    </a:cubicBezTo>
                    <a:lnTo>
                      <a:pt x="36367" y="653536"/>
                    </a:lnTo>
                    <a:cubicBezTo>
                      <a:pt x="16282" y="653536"/>
                      <a:pt x="0" y="637254"/>
                      <a:pt x="0" y="617169"/>
                    </a:cubicBezTo>
                    <a:lnTo>
                      <a:pt x="0" y="36367"/>
                    </a:lnTo>
                    <a:cubicBezTo>
                      <a:pt x="0" y="16282"/>
                      <a:pt x="16282" y="0"/>
                      <a:pt x="36367" y="0"/>
                    </a:cubicBezTo>
                    <a:close/>
                  </a:path>
                </a:pathLst>
              </a:custGeom>
              <a:solidFill>
                <a:srgbClr val="64939C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9525"/>
                <a:ext cx="1159187" cy="6630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0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0" y="39796"/>
              <a:ext cx="1823846" cy="907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5962"/>
                </a:lnSpc>
                <a:spcBef>
                  <a:spcPct val="0"/>
                </a:spcBef>
              </a:pPr>
              <a:r>
                <a:rPr lang="en-US" sz="3798">
                  <a:solidFill>
                    <a:srgbClr val="FFFFFF"/>
                  </a:solidFill>
                  <a:latin typeface="Mokoto"/>
                  <a:ea typeface="Mokoto"/>
                  <a:cs typeface="Mokoto"/>
                  <a:sym typeface="Mokoto"/>
                </a:rPr>
                <a:t>0</a:t>
              </a:r>
              <a:r>
                <a:rPr lang="en-US" sz="3798" u="none">
                  <a:solidFill>
                    <a:srgbClr val="FFFFFF"/>
                  </a:solidFill>
                  <a:latin typeface="Mokoto"/>
                  <a:ea typeface="Mokoto"/>
                  <a:cs typeface="Mokoto"/>
                  <a:sym typeface="Mokoto"/>
                </a:rPr>
                <a:t>1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6295965" y="8474834"/>
            <a:ext cx="3681087" cy="4708368"/>
          </a:xfrm>
          <a:custGeom>
            <a:avLst/>
            <a:gdLst/>
            <a:ahLst/>
            <a:cxnLst/>
            <a:rect r="r" b="b" t="t" l="l"/>
            <a:pathLst>
              <a:path h="4708368" w="3681087">
                <a:moveTo>
                  <a:pt x="0" y="0"/>
                </a:moveTo>
                <a:lnTo>
                  <a:pt x="3681087" y="0"/>
                </a:lnTo>
                <a:lnTo>
                  <a:pt x="3681087" y="4708367"/>
                </a:lnTo>
                <a:lnTo>
                  <a:pt x="0" y="47083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601751" y="647467"/>
            <a:ext cx="20835606" cy="3277326"/>
            <a:chOff x="0" y="0"/>
            <a:chExt cx="5487567" cy="8631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87567" cy="863164"/>
            </a:xfrm>
            <a:custGeom>
              <a:avLst/>
              <a:gdLst/>
              <a:ahLst/>
              <a:cxnLst/>
              <a:rect r="r" b="b" t="t" l="l"/>
              <a:pathLst>
                <a:path h="863164" w="5487567">
                  <a:moveTo>
                    <a:pt x="0" y="0"/>
                  </a:moveTo>
                  <a:lnTo>
                    <a:pt x="5487567" y="0"/>
                  </a:lnTo>
                  <a:lnTo>
                    <a:pt x="5487567" y="863164"/>
                  </a:lnTo>
                  <a:lnTo>
                    <a:pt x="0" y="863164"/>
                  </a:lnTo>
                  <a:close/>
                </a:path>
              </a:pathLst>
            </a:custGeom>
            <a:solidFill>
              <a:srgbClr val="4E767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487567" cy="910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4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2450153" y="6490903"/>
            <a:ext cx="3620583" cy="4415345"/>
          </a:xfrm>
          <a:custGeom>
            <a:avLst/>
            <a:gdLst/>
            <a:ahLst/>
            <a:cxnLst/>
            <a:rect r="r" b="b" t="t" l="l"/>
            <a:pathLst>
              <a:path h="4415345" w="3620583">
                <a:moveTo>
                  <a:pt x="0" y="0"/>
                </a:moveTo>
                <a:lnTo>
                  <a:pt x="3620582" y="0"/>
                </a:lnTo>
                <a:lnTo>
                  <a:pt x="3620582" y="4415345"/>
                </a:lnTo>
                <a:lnTo>
                  <a:pt x="0" y="44153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18079" y="6719503"/>
            <a:ext cx="8397973" cy="3274035"/>
          </a:xfrm>
          <a:custGeom>
            <a:avLst/>
            <a:gdLst/>
            <a:ahLst/>
            <a:cxnLst/>
            <a:rect r="r" b="b" t="t" l="l"/>
            <a:pathLst>
              <a:path h="3274035" w="8397973">
                <a:moveTo>
                  <a:pt x="0" y="0"/>
                </a:moveTo>
                <a:lnTo>
                  <a:pt x="8397973" y="0"/>
                </a:lnTo>
                <a:lnTo>
                  <a:pt x="8397973" y="3274035"/>
                </a:lnTo>
                <a:lnTo>
                  <a:pt x="0" y="32740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436838" y="5521818"/>
            <a:ext cx="5238341" cy="3920415"/>
          </a:xfrm>
          <a:custGeom>
            <a:avLst/>
            <a:gdLst/>
            <a:ahLst/>
            <a:cxnLst/>
            <a:rect r="r" b="b" t="t" l="l"/>
            <a:pathLst>
              <a:path h="3920415" w="5238341">
                <a:moveTo>
                  <a:pt x="0" y="0"/>
                </a:moveTo>
                <a:lnTo>
                  <a:pt x="5238341" y="0"/>
                </a:lnTo>
                <a:lnTo>
                  <a:pt x="5238341" y="3920414"/>
                </a:lnTo>
                <a:lnTo>
                  <a:pt x="0" y="39204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062605" y="5335772"/>
            <a:ext cx="5491868" cy="457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b="true" sz="3581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LOGISTIC REGRESSION: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18079" y="5965734"/>
            <a:ext cx="5378422" cy="525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10"/>
              </a:lnSpc>
              <a:spcBef>
                <a:spcPct val="0"/>
              </a:spcBef>
            </a:pPr>
            <a:r>
              <a:rPr lang="en-US" b="true" sz="3079" strike="noStrike" u="none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Regularization parameter C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18079" y="1500532"/>
            <a:ext cx="17564711" cy="1032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25"/>
              </a:lnSpc>
            </a:pPr>
            <a:r>
              <a:rPr lang="en-US" sz="6606" spc="-145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Hyperparameter Tuning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36838" y="4217754"/>
            <a:ext cx="5634542" cy="671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19"/>
              </a:lnSpc>
              <a:spcBef>
                <a:spcPct val="0"/>
              </a:spcBef>
            </a:pPr>
            <a:r>
              <a:rPr lang="en-US" b="true" sz="3942" strike="noStrike" u="none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Accuracy and F1-score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18079" y="4160428"/>
            <a:ext cx="4148103" cy="67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19"/>
              </a:lnSpc>
              <a:spcBef>
                <a:spcPct val="0"/>
              </a:spcBef>
            </a:pPr>
            <a:r>
              <a:rPr lang="en-US" b="true" sz="3942" strike="noStrike" u="none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was tuned?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47037" y="5155515"/>
            <a:ext cx="1343032" cy="789838"/>
            <a:chOff x="0" y="0"/>
            <a:chExt cx="1790709" cy="105311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790709" cy="1053117"/>
              <a:chOff x="0" y="0"/>
              <a:chExt cx="1111265" cy="65353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111265" cy="653536"/>
              </a:xfrm>
              <a:custGeom>
                <a:avLst/>
                <a:gdLst/>
                <a:ahLst/>
                <a:cxnLst/>
                <a:rect r="r" b="b" t="t" l="l"/>
                <a:pathLst>
                  <a:path h="653536" w="1111265">
                    <a:moveTo>
                      <a:pt x="37935" y="0"/>
                    </a:moveTo>
                    <a:lnTo>
                      <a:pt x="1073330" y="0"/>
                    </a:lnTo>
                    <a:cubicBezTo>
                      <a:pt x="1094281" y="0"/>
                      <a:pt x="1111265" y="16984"/>
                      <a:pt x="1111265" y="37935"/>
                    </a:cubicBezTo>
                    <a:lnTo>
                      <a:pt x="1111265" y="615601"/>
                    </a:lnTo>
                    <a:cubicBezTo>
                      <a:pt x="1111265" y="625662"/>
                      <a:pt x="1107269" y="635311"/>
                      <a:pt x="1100155" y="642425"/>
                    </a:cubicBezTo>
                    <a:cubicBezTo>
                      <a:pt x="1093040" y="649539"/>
                      <a:pt x="1083391" y="653536"/>
                      <a:pt x="1073330" y="653536"/>
                    </a:cubicBezTo>
                    <a:lnTo>
                      <a:pt x="37935" y="653536"/>
                    </a:lnTo>
                    <a:cubicBezTo>
                      <a:pt x="27874" y="653536"/>
                      <a:pt x="18225" y="649539"/>
                      <a:pt x="11111" y="642425"/>
                    </a:cubicBezTo>
                    <a:cubicBezTo>
                      <a:pt x="3997" y="635311"/>
                      <a:pt x="0" y="625662"/>
                      <a:pt x="0" y="615601"/>
                    </a:cubicBezTo>
                    <a:lnTo>
                      <a:pt x="0" y="37935"/>
                    </a:lnTo>
                    <a:cubicBezTo>
                      <a:pt x="0" y="16984"/>
                      <a:pt x="16984" y="0"/>
                      <a:pt x="37935" y="0"/>
                    </a:cubicBezTo>
                    <a:close/>
                  </a:path>
                </a:pathLst>
              </a:custGeom>
              <a:solidFill>
                <a:srgbClr val="64939C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1111265" cy="68211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60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21131" y="40683"/>
              <a:ext cx="1748448" cy="907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5962"/>
                </a:lnSpc>
                <a:spcBef>
                  <a:spcPct val="0"/>
                </a:spcBef>
              </a:pPr>
              <a:r>
                <a:rPr lang="en-US" sz="3798">
                  <a:solidFill>
                    <a:srgbClr val="FFFFFF"/>
                  </a:solidFill>
                  <a:latin typeface="Mokoto"/>
                  <a:ea typeface="Mokoto"/>
                  <a:cs typeface="Mokoto"/>
                  <a:sym typeface="Mokoto"/>
                </a:rPr>
                <a:t>0</a:t>
              </a:r>
              <a:r>
                <a:rPr lang="en-US" sz="3798" u="none">
                  <a:solidFill>
                    <a:srgbClr val="FFFFFF"/>
                  </a:solidFill>
                  <a:latin typeface="Mokoto"/>
                  <a:ea typeface="Mokoto"/>
                  <a:cs typeface="Mokoto"/>
                  <a:sym typeface="Mokoto"/>
                </a:rPr>
                <a:t>2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6295965" y="8474834"/>
            <a:ext cx="3681087" cy="4708368"/>
          </a:xfrm>
          <a:custGeom>
            <a:avLst/>
            <a:gdLst/>
            <a:ahLst/>
            <a:cxnLst/>
            <a:rect r="r" b="b" t="t" l="l"/>
            <a:pathLst>
              <a:path h="4708368" w="3681087">
                <a:moveTo>
                  <a:pt x="0" y="0"/>
                </a:moveTo>
                <a:lnTo>
                  <a:pt x="3681087" y="0"/>
                </a:lnTo>
                <a:lnTo>
                  <a:pt x="3681087" y="4708367"/>
                </a:lnTo>
                <a:lnTo>
                  <a:pt x="0" y="47083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601751" y="647467"/>
            <a:ext cx="20835606" cy="3277326"/>
            <a:chOff x="0" y="0"/>
            <a:chExt cx="5487567" cy="8631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87567" cy="863164"/>
            </a:xfrm>
            <a:custGeom>
              <a:avLst/>
              <a:gdLst/>
              <a:ahLst/>
              <a:cxnLst/>
              <a:rect r="r" b="b" t="t" l="l"/>
              <a:pathLst>
                <a:path h="863164" w="5487567">
                  <a:moveTo>
                    <a:pt x="0" y="0"/>
                  </a:moveTo>
                  <a:lnTo>
                    <a:pt x="5487567" y="0"/>
                  </a:lnTo>
                  <a:lnTo>
                    <a:pt x="5487567" y="863164"/>
                  </a:lnTo>
                  <a:lnTo>
                    <a:pt x="0" y="863164"/>
                  </a:lnTo>
                  <a:close/>
                </a:path>
              </a:pathLst>
            </a:custGeom>
            <a:solidFill>
              <a:srgbClr val="4E767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487567" cy="910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4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2450153" y="6490903"/>
            <a:ext cx="3620583" cy="4415345"/>
          </a:xfrm>
          <a:custGeom>
            <a:avLst/>
            <a:gdLst/>
            <a:ahLst/>
            <a:cxnLst/>
            <a:rect r="r" b="b" t="t" l="l"/>
            <a:pathLst>
              <a:path h="4415345" w="3620583">
                <a:moveTo>
                  <a:pt x="0" y="0"/>
                </a:moveTo>
                <a:lnTo>
                  <a:pt x="3620582" y="0"/>
                </a:lnTo>
                <a:lnTo>
                  <a:pt x="3620582" y="4415345"/>
                </a:lnTo>
                <a:lnTo>
                  <a:pt x="0" y="44153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18079" y="6897823"/>
            <a:ext cx="7412616" cy="3154022"/>
          </a:xfrm>
          <a:custGeom>
            <a:avLst/>
            <a:gdLst/>
            <a:ahLst/>
            <a:cxnLst/>
            <a:rect r="r" b="b" t="t" l="l"/>
            <a:pathLst>
              <a:path h="3154022" w="7412616">
                <a:moveTo>
                  <a:pt x="0" y="0"/>
                </a:moveTo>
                <a:lnTo>
                  <a:pt x="7412617" y="0"/>
                </a:lnTo>
                <a:lnTo>
                  <a:pt x="7412617" y="3154021"/>
                </a:lnTo>
                <a:lnTo>
                  <a:pt x="0" y="31540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816052" y="4921280"/>
            <a:ext cx="5532226" cy="5278454"/>
          </a:xfrm>
          <a:custGeom>
            <a:avLst/>
            <a:gdLst/>
            <a:ahLst/>
            <a:cxnLst/>
            <a:rect r="r" b="b" t="t" l="l"/>
            <a:pathLst>
              <a:path h="5278454" w="5532226">
                <a:moveTo>
                  <a:pt x="0" y="0"/>
                </a:moveTo>
                <a:lnTo>
                  <a:pt x="5532226" y="0"/>
                </a:lnTo>
                <a:lnTo>
                  <a:pt x="5532226" y="5278455"/>
                </a:lnTo>
                <a:lnTo>
                  <a:pt x="0" y="52784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062605" y="5137464"/>
            <a:ext cx="4345212" cy="887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b="true" sz="3581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SUPPORT VECTOR MACHINE (SVM):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18079" y="6025099"/>
            <a:ext cx="5378422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Regularization parameter C</a:t>
            </a: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Kernel type (linear, rbf)</a:t>
            </a: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418079" y="1500532"/>
            <a:ext cx="17564711" cy="1032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25"/>
              </a:lnSpc>
            </a:pPr>
            <a:r>
              <a:rPr lang="en-US" sz="6606" spc="-145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Hyperparameter Tuning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77725" y="4160281"/>
            <a:ext cx="5634542" cy="671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19"/>
              </a:lnSpc>
              <a:spcBef>
                <a:spcPct val="0"/>
              </a:spcBef>
            </a:pPr>
            <a:r>
              <a:rPr lang="en-US" b="true" sz="3942" strike="noStrike" u="none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Accuracy and F1-score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18079" y="4160428"/>
            <a:ext cx="4148103" cy="67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19"/>
              </a:lnSpc>
              <a:spcBef>
                <a:spcPct val="0"/>
              </a:spcBef>
            </a:pPr>
            <a:r>
              <a:rPr lang="en-US" b="true" sz="3942" strike="noStrike" u="none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was tuned?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38662" y="4320721"/>
            <a:ext cx="1620824" cy="2497068"/>
          </a:xfrm>
          <a:custGeom>
            <a:avLst/>
            <a:gdLst/>
            <a:ahLst/>
            <a:cxnLst/>
            <a:rect r="r" b="b" t="t" l="l"/>
            <a:pathLst>
              <a:path h="2497068" w="1620824">
                <a:moveTo>
                  <a:pt x="0" y="0"/>
                </a:moveTo>
                <a:lnTo>
                  <a:pt x="1620824" y="0"/>
                </a:lnTo>
                <a:lnTo>
                  <a:pt x="1620824" y="2497068"/>
                </a:lnTo>
                <a:lnTo>
                  <a:pt x="0" y="24970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25521" y="605291"/>
            <a:ext cx="20835606" cy="3277326"/>
            <a:chOff x="0" y="0"/>
            <a:chExt cx="5487567" cy="8631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7567" cy="863164"/>
            </a:xfrm>
            <a:custGeom>
              <a:avLst/>
              <a:gdLst/>
              <a:ahLst/>
              <a:cxnLst/>
              <a:rect r="r" b="b" t="t" l="l"/>
              <a:pathLst>
                <a:path h="863164" w="5487567">
                  <a:moveTo>
                    <a:pt x="0" y="0"/>
                  </a:moveTo>
                  <a:lnTo>
                    <a:pt x="5487567" y="0"/>
                  </a:lnTo>
                  <a:lnTo>
                    <a:pt x="5487567" y="863164"/>
                  </a:lnTo>
                  <a:lnTo>
                    <a:pt x="0" y="863164"/>
                  </a:lnTo>
                  <a:close/>
                </a:path>
              </a:pathLst>
            </a:custGeom>
            <a:solidFill>
              <a:srgbClr val="4E767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487567" cy="910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28202" y="6873818"/>
            <a:ext cx="9216331" cy="2890139"/>
          </a:xfrm>
          <a:custGeom>
            <a:avLst/>
            <a:gdLst/>
            <a:ahLst/>
            <a:cxnLst/>
            <a:rect r="r" b="b" t="t" l="l"/>
            <a:pathLst>
              <a:path h="2890139" w="9216331">
                <a:moveTo>
                  <a:pt x="0" y="0"/>
                </a:moveTo>
                <a:lnTo>
                  <a:pt x="9216331" y="0"/>
                </a:lnTo>
                <a:lnTo>
                  <a:pt x="9216331" y="2890139"/>
                </a:lnTo>
                <a:lnTo>
                  <a:pt x="0" y="28901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092282" y="7111872"/>
            <a:ext cx="6404465" cy="2606468"/>
          </a:xfrm>
          <a:custGeom>
            <a:avLst/>
            <a:gdLst/>
            <a:ahLst/>
            <a:cxnLst/>
            <a:rect r="r" b="b" t="t" l="l"/>
            <a:pathLst>
              <a:path h="2606468" w="6404465">
                <a:moveTo>
                  <a:pt x="0" y="0"/>
                </a:moveTo>
                <a:lnTo>
                  <a:pt x="6404465" y="0"/>
                </a:lnTo>
                <a:lnTo>
                  <a:pt x="6404465" y="2606469"/>
                </a:lnTo>
                <a:lnTo>
                  <a:pt x="0" y="26064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282132" y="4229166"/>
            <a:ext cx="7040051" cy="2588623"/>
            <a:chOff x="0" y="0"/>
            <a:chExt cx="9386735" cy="345149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200463" y="-38100"/>
              <a:ext cx="9186272" cy="8386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167"/>
                </a:lnSpc>
                <a:spcBef>
                  <a:spcPct val="0"/>
                </a:spcBef>
              </a:pPr>
              <a:r>
                <a:rPr lang="en-US" b="true" sz="3974" spc="21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PROCESS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205074"/>
              <a:ext cx="7991176" cy="22464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0821" indent="-235410" lvl="1">
                <a:lnSpc>
                  <a:spcPts val="2747"/>
                </a:lnSpc>
                <a:buFont typeface="Arial"/>
                <a:buChar char="•"/>
              </a:pPr>
              <a:r>
                <a:rPr lang="en-US" b="true" sz="2180">
                  <a:solidFill>
                    <a:srgbClr val="05061C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Applied same preprocessing &amp; TF-IDF</a:t>
              </a:r>
            </a:p>
            <a:p>
              <a:pPr algn="l" marL="470821" indent="-235410" lvl="1">
                <a:lnSpc>
                  <a:spcPts val="2747"/>
                </a:lnSpc>
                <a:buFont typeface="Arial"/>
                <a:buChar char="•"/>
              </a:pPr>
              <a:r>
                <a:rPr lang="en-US" b="true" sz="2180">
                  <a:solidFill>
                    <a:srgbClr val="05061C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Us</a:t>
              </a:r>
              <a:r>
                <a:rPr lang="en-US" b="true" sz="2180">
                  <a:solidFill>
                    <a:srgbClr val="05061C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ed Logistic Regression to predict labels</a:t>
              </a:r>
            </a:p>
            <a:p>
              <a:pPr algn="l">
                <a:lnSpc>
                  <a:spcPts val="2747"/>
                </a:lnSpc>
              </a:pPr>
            </a:p>
            <a:p>
              <a:pPr algn="l" marL="0" indent="0" lvl="0">
                <a:lnSpc>
                  <a:spcPts val="274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432505" y="4104859"/>
            <a:ext cx="7152217" cy="2768959"/>
            <a:chOff x="0" y="0"/>
            <a:chExt cx="9536289" cy="3691945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257942" y="-28575"/>
              <a:ext cx="9278347" cy="24404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82"/>
                </a:lnSpc>
              </a:pPr>
              <a:r>
                <a:rPr lang="en-US" b="true" sz="3755" spc="1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OUTPUT</a:t>
              </a:r>
            </a:p>
            <a:p>
              <a:pPr algn="l" marL="810907" indent="-405454" lvl="1">
                <a:lnSpc>
                  <a:spcPts val="4882"/>
                </a:lnSpc>
                <a:buFont typeface="Arial"/>
                <a:buChar char="•"/>
              </a:pPr>
            </a:p>
            <a:p>
              <a:pPr algn="l" marL="0" indent="0" lvl="0">
                <a:lnSpc>
                  <a:spcPts val="4882"/>
                </a:lnSpc>
                <a:spcBef>
                  <a:spcPct val="0"/>
                </a:spcBef>
              </a:pP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151336"/>
              <a:ext cx="8071272" cy="25406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44887" indent="-222443" lvl="1">
                <a:lnSpc>
                  <a:spcPts val="2596"/>
                </a:lnSpc>
                <a:buFont typeface="Arial"/>
                <a:buChar char="•"/>
              </a:pPr>
              <a:r>
                <a:rPr lang="en-US" b="true" sz="2060">
                  <a:solidFill>
                    <a:srgbClr val="05061C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Each headline classified as:</a:t>
              </a:r>
            </a:p>
            <a:p>
              <a:pPr algn="l" marL="444887" indent="-222443" lvl="1">
                <a:lnSpc>
                  <a:spcPts val="2596"/>
                </a:lnSpc>
                <a:buFont typeface="Arial"/>
                <a:buChar char="•"/>
              </a:pPr>
              <a:r>
                <a:rPr lang="en-US" b="true" sz="2060">
                  <a:solidFill>
                    <a:srgbClr val="05061C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 = Fake</a:t>
              </a:r>
            </a:p>
            <a:p>
              <a:pPr algn="l" marL="444887" indent="-222443" lvl="1">
                <a:lnSpc>
                  <a:spcPts val="2596"/>
                </a:lnSpc>
                <a:buFont typeface="Arial"/>
                <a:buChar char="•"/>
              </a:pPr>
              <a:r>
                <a:rPr lang="en-US" b="true" sz="2060">
                  <a:solidFill>
                    <a:srgbClr val="05061C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 = Real</a:t>
              </a:r>
            </a:p>
            <a:p>
              <a:pPr algn="l" marL="444887" indent="-222443" lvl="1">
                <a:lnSpc>
                  <a:spcPts val="2596"/>
                </a:lnSpc>
                <a:buFont typeface="Arial"/>
                <a:buChar char="•"/>
              </a:pPr>
              <a:r>
                <a:rPr lang="en-US" b="true" sz="2060">
                  <a:solidFill>
                    <a:srgbClr val="05061C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testing_data_predictions.csv</a:t>
              </a:r>
            </a:p>
            <a:p>
              <a:pPr algn="l" marL="444887" indent="-222443" lvl="1">
                <a:lnSpc>
                  <a:spcPts val="2596"/>
                </a:lnSpc>
                <a:buFont typeface="Arial"/>
                <a:buChar char="•"/>
              </a:pPr>
              <a:r>
                <a:rPr lang="en-US" b="true" sz="2060">
                  <a:solidFill>
                    <a:srgbClr val="05061C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Original file format preserved</a:t>
              </a:r>
            </a:p>
            <a:p>
              <a:pPr algn="l" marL="0" indent="0" lvl="0">
                <a:lnSpc>
                  <a:spcPts val="2596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814871" y="1028700"/>
            <a:ext cx="11072603" cy="219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672"/>
              </a:lnSpc>
              <a:spcBef>
                <a:spcPct val="0"/>
              </a:spcBef>
            </a:pPr>
            <a:r>
              <a:rPr lang="en-US" sz="7227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Pr</a:t>
            </a:r>
            <a:r>
              <a:rPr lang="en-US" sz="7227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edictions on Test Dataset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25974" y="1093466"/>
            <a:ext cx="6670916" cy="108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43"/>
              </a:lnSpc>
            </a:pPr>
            <a:r>
              <a:rPr lang="en-US" sz="6476" spc="-544">
                <a:solidFill>
                  <a:srgbClr val="05061C"/>
                </a:solidFill>
                <a:latin typeface="Mokoto"/>
                <a:ea typeface="Mokoto"/>
                <a:cs typeface="Mokoto"/>
                <a:sym typeface="Mokoto"/>
              </a:rPr>
              <a:t>Conclusion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4811008" cy="5678228"/>
          </a:xfrm>
          <a:custGeom>
            <a:avLst/>
            <a:gdLst/>
            <a:ahLst/>
            <a:cxnLst/>
            <a:rect r="r" b="b" t="t" l="l"/>
            <a:pathLst>
              <a:path h="5678228" w="4811008">
                <a:moveTo>
                  <a:pt x="0" y="0"/>
                </a:moveTo>
                <a:lnTo>
                  <a:pt x="4811008" y="0"/>
                </a:lnTo>
                <a:lnTo>
                  <a:pt x="4811008" y="5678228"/>
                </a:lnTo>
                <a:lnTo>
                  <a:pt x="0" y="56782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4722179"/>
            <a:ext cx="6259289" cy="8275503"/>
          </a:xfrm>
          <a:custGeom>
            <a:avLst/>
            <a:gdLst/>
            <a:ahLst/>
            <a:cxnLst/>
            <a:rect r="r" b="b" t="t" l="l"/>
            <a:pathLst>
              <a:path h="8275503" w="6259289">
                <a:moveTo>
                  <a:pt x="0" y="0"/>
                </a:moveTo>
                <a:lnTo>
                  <a:pt x="6259289" y="0"/>
                </a:lnTo>
                <a:lnTo>
                  <a:pt x="6259289" y="8275503"/>
                </a:lnTo>
                <a:lnTo>
                  <a:pt x="0" y="82755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819811" y="3356755"/>
            <a:ext cx="9967510" cy="3907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6"/>
              </a:lnSpc>
            </a:pPr>
            <a:r>
              <a:rPr lang="en-US" b="true" sz="2816" spc="-11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SLIDE: CONCLUSION</a:t>
            </a:r>
          </a:p>
          <a:p>
            <a:pPr algn="l" marL="608005" indent="-304002" lvl="1">
              <a:lnSpc>
                <a:spcPts val="3886"/>
              </a:lnSpc>
              <a:buFont typeface="Arial"/>
              <a:buChar char="•"/>
            </a:pPr>
            <a:r>
              <a:rPr lang="en-US" b="true" sz="2816" spc="-11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Final model: Logistic Regression</a:t>
            </a:r>
          </a:p>
          <a:p>
            <a:pPr algn="l" marL="608005" indent="-304002" lvl="1">
              <a:lnSpc>
                <a:spcPts val="3886"/>
              </a:lnSpc>
              <a:buFont typeface="Arial"/>
              <a:buChar char="•"/>
            </a:pPr>
            <a:r>
              <a:rPr lang="en-US" b="true" sz="2816" spc="-11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results:</a:t>
            </a:r>
          </a:p>
          <a:p>
            <a:pPr algn="l" marL="1216010" indent="-405337" lvl="2">
              <a:lnSpc>
                <a:spcPts val="3886"/>
              </a:lnSpc>
              <a:buFont typeface="Arial"/>
              <a:buChar char="⚬"/>
            </a:pPr>
            <a:r>
              <a:rPr lang="en-US" b="true" sz="2816" spc="-11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High F1-score &amp; accuracy</a:t>
            </a:r>
          </a:p>
          <a:p>
            <a:pPr algn="l" marL="1216010" indent="-405337" lvl="2">
              <a:lnSpc>
                <a:spcPts val="3886"/>
              </a:lnSpc>
              <a:buFont typeface="Arial"/>
              <a:buChar char="⚬"/>
            </a:pPr>
            <a:r>
              <a:rPr lang="en-US" b="true" sz="2816" spc="-11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Fast training, simpler than SVM</a:t>
            </a:r>
          </a:p>
          <a:p>
            <a:pPr algn="l" marL="1216010" indent="-405337" lvl="2">
              <a:lnSpc>
                <a:spcPts val="3886"/>
              </a:lnSpc>
              <a:buFont typeface="Arial"/>
              <a:buChar char="⚬"/>
            </a:pPr>
            <a:r>
              <a:rPr lang="en-US" b="true" sz="2816" spc="-11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Successfully classified real vs fake news</a:t>
            </a:r>
          </a:p>
          <a:p>
            <a:pPr algn="l" marL="1216010" indent="-405337" lvl="2">
              <a:lnSpc>
                <a:spcPts val="3886"/>
              </a:lnSpc>
              <a:buFont typeface="Arial"/>
              <a:buChar char="⚬"/>
            </a:pPr>
            <a:r>
              <a:rPr lang="en-US" b="true" sz="2816" spc="-11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Generalized well to unseen data</a:t>
            </a:r>
          </a:p>
          <a:p>
            <a:pPr algn="l">
              <a:lnSpc>
                <a:spcPts val="3886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4B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802679" y="446691"/>
            <a:ext cx="10471816" cy="1523173"/>
          </a:xfrm>
          <a:custGeom>
            <a:avLst/>
            <a:gdLst/>
            <a:ahLst/>
            <a:cxnLst/>
            <a:rect r="r" b="b" t="t" l="l"/>
            <a:pathLst>
              <a:path h="1523173" w="10471816">
                <a:moveTo>
                  <a:pt x="0" y="0"/>
                </a:moveTo>
                <a:lnTo>
                  <a:pt x="10471817" y="0"/>
                </a:lnTo>
                <a:lnTo>
                  <a:pt x="10471817" y="1523173"/>
                </a:lnTo>
                <a:lnTo>
                  <a:pt x="0" y="15231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17148" y="0"/>
            <a:ext cx="10471816" cy="1523173"/>
          </a:xfrm>
          <a:custGeom>
            <a:avLst/>
            <a:gdLst/>
            <a:ahLst/>
            <a:cxnLst/>
            <a:rect r="r" b="b" t="t" l="l"/>
            <a:pathLst>
              <a:path h="1523173" w="10471816">
                <a:moveTo>
                  <a:pt x="0" y="0"/>
                </a:moveTo>
                <a:lnTo>
                  <a:pt x="10471817" y="0"/>
                </a:lnTo>
                <a:lnTo>
                  <a:pt x="10471817" y="1523173"/>
                </a:lnTo>
                <a:lnTo>
                  <a:pt x="0" y="15231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669138" y="4595794"/>
            <a:ext cx="11580336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Thanks for listening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DAG-n2N6AQs</dc:identifier>
  <dcterms:modified xsi:type="dcterms:W3CDTF">2011-08-01T06:04:30Z</dcterms:modified>
  <cp:revision>1</cp:revision>
  <dc:title>NLP Project (Jesús Hernández)</dc:title>
</cp:coreProperties>
</file>